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7" d="100"/>
          <a:sy n="47" d="100"/>
        </p:scale>
        <p:origin x="1027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pinan Aryuyong" userId="f779afec2317b3b7" providerId="LiveId" clId="{4245F615-ABAD-4B08-A787-3534D6902770}"/>
    <pc:docChg chg="modSld">
      <pc:chgData name="Apinan Aryuyong" userId="f779afec2317b3b7" providerId="LiveId" clId="{4245F615-ABAD-4B08-A787-3534D6902770}" dt="2026-08-17T05:37:49.574" v="0" actId="1076"/>
      <pc:docMkLst>
        <pc:docMk/>
      </pc:docMkLst>
      <pc:sldChg chg="modSp mod">
        <pc:chgData name="Apinan Aryuyong" userId="f779afec2317b3b7" providerId="LiveId" clId="{4245F615-ABAD-4B08-A787-3534D6902770}" dt="2026-08-17T05:37:49.574" v="0" actId="1076"/>
        <pc:sldMkLst>
          <pc:docMk/>
          <pc:sldMk cId="0" sldId="256"/>
        </pc:sldMkLst>
        <pc:spChg chg="mod">
          <ac:chgData name="Apinan Aryuyong" userId="f779afec2317b3b7" providerId="LiveId" clId="{4245F615-ABAD-4B08-A787-3534D6902770}" dt="2026-08-17T05:37:49.574" v="0" actId="1076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3DB7A9-CB93-43AD-84C8-530D263BAFB2}" type="datetimeFigureOut">
              <a:rPr lang="th-TH" smtClean="0"/>
              <a:t>17/08/69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80CC23-5251-4385-8BBE-10B792BEECC9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6885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เริ่มส่วนสาธิตเว็บแอปครับ จะเดินตามลำดับที่ใช้งานจริง สกัดเฟรม → ตรวจจับ → กำกับข้อมูล → ส่งออก แล้วปิดท้ายด้วยภาพรวมว่าระบบนี้วิ่งอยู่บนอะไรบ้าง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ขั้นแรกคือสกัดเฟรมจากวิดีโอครับ จุดที่อยากเน้นคือโหมด Adaptive ผู้ใช้ไม่ต้องรู้ว่าวิดีโอยาวเท่าไหร่ ตั้งแค่ว่าอยากได้กี่เฟรม ระบบจะเกลี่ยให้เอง แล้วมีตัวกรองความซ้ำด้วย Motion IoU กับตัวกรองภาพเบลอ ทำให้เฟรมที่ได้ไม่ซ้ำกันเกินไปโดยไม่ต้องเลือกมือทีละเฟรม ตัวอย่างในภาพคือวิดีโอ 11.8 วินาที 355 เฟรม ระบบคัดเหลือ 11 เฟรมที่กระจายตัวดีที่สุดให้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ขั้นตรวจจับครับ ภาพนี้ถ่ายตอนโหลดโมเดล ssid_v6i_50ep รุ่น 5 คลาส ซึ่งเป็นรุ่นที่ใช้อยู่ตอนถ่ายภาพสาธิตนี้ — ปัจจุบันมีโมเดลที่ดีกว่าและใหม่กว่าใช้งานจริงแล้วคือ ssid9_960px_150ep รุ่น 9 คลาส mAP50 0.716 ซึ่งเป็นตัวที่รายงานผลในส่วนถัดไปครับ จุดที่อยากเน้นในหน้านี้คือรองรับทั้งโมเดล local และ Roboflow Cloud โดยฝั่งคลาวด์มีปุ่มยืนยันก่อนเรียกทุกครั้ง ไม่ยิง API โดยอัตโนมัติ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หน้ากำกับข้อมูล หัวใจของเว็บแอปครับ กรอบเส้นประคือสิ่งที่โมเดลหรือระบบเสนอมาแต่ยังไม่ยืนยัน ผู้ใช้กด Confirm All ได้ถ้าเชื่อว่าถูกหมด หรือแก้ทีละกล่องก็ได้ ฟีเจอร์ interpolate ช่วยได้มากเวลาต้องกำกับหลายเฟรมติดกันที่วัตถุเคลื่อนไหวต่อเนื่อง ไม่ต้องวาดใหม่ทุกเฟรม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ขั้นสุดท้ายของสี่ขั้นตอนหลักคือส่งออกครับ จุดที่ตั้งใจออกแบบเป็นพิเศษคือรองรับ export ได้ทั้ง detect/segment/pose จากข้อมูล bbox ชุดเดียวกัน โดยแปลงให้อัตโนมัติ ทำให้ dataset เดียวเอาไปเทรนโมเดลได้หลายแบบโดยไม่ต้องกำกับซ้ำ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ก่อนพูดเรื่อง Infrastructure อยากให้เห็นภาพนี้ก่อนครับ ว่าจริงๆ แล้วระบบมีแค่บริการเดียว ไม่ใช่สามบริการแยกกัน — Frontend เป็นไฟล์ static ที่ Server ตัวเดียวกันเสิร์ฟให้ ไม่มีการเรียกข้ามเครือข่ายระหว่างกันเลย และไม่มีฐานข้อมูลจริง ใช้ไฟล์ state.json แทน ซึ่งเป็นการตัดสินใจตั้งใจ ไม่ใช่ข้อจำกัดที่ยังทำไม่เสร็จ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 Infrastructure ครับ ขอพูดตรงๆ ว่าตอนนี้ยังไม่ได้ deploy ขึ้นเซิร์ฟเวอร์จริง รันอยู่บนเครื่อง local เท่านั้น แต่แผนกับสคริปต์เขียนไว้พร้อมใช้แล้วจริงๆ ไม่ใช่แค่พูดลอยๆ — อยู่ใน commit ล่าสุดของโปรเจกต์เลย ถ้าต้องเลือก Frontend/Server/Database service ตามหมวดที่คุ้นกัน Frontend ไม่ใช่บริการแยกเพราะเป็นไฟล์ static ธรรมดา Server จะเป็น VPS ธรรมดาแบบ CPU-only ไม่ใช่ Railway หรือ Azure หรือบริการเจาะจงเจ้าไหน พวกเรายังไม่ได้ตัดสินใจเจาะจงผู้ให้บริการ ตัดสินใจแค่หมวดว่าจะเป็น CPU-only VPS ทั่วไป ส่วน Database ไม่มีเลยครับ ไม่มี MongoDB ไม่มีฐานข้อมูลใดๆ เพราะใช้ state.json แทนโดยตั้งใจ ถ้าอาจารย์ถามว่าทำไมไม่ใช้ฐานข้อมูล คำตอบคือขนาดข้อมูลกับจำนวนผู้ใช้ของระบบนี้ยังไม่ถึงจุดที่ไฟล์แบนราบเป็นปัญหาครับ</a:t>
            </a:r>
          </a:p>
          <a:p>
            <a:endParaRPr/>
          </a:p>
          <a:p>
            <a:r>
              <a:t>อีกจุดที่อยากพูดถึงคือ Cloudflare Tunnel ที่เคยใช้จริง — อันนี้คนละเรื่องกับแผน deploy ข้างต้นนะครับ ใช้แค่ตอนอยากให้อาจารย์หรือใครดูหน้าจอที่รันอยู่บนเครื่อง local ได้ทันทีผ่านลิงก์ชั่วคราว ไม่ต้องรอตั้ง VPS จริง เป็นเครื่องมือสำหรับสาธิต ไม่ใช่โครงสร้างที่จะ deploy ถาวร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หน้า Analytics ครับ ภาพนี้ถ่ายสดวันนี้เลย ไม่ใช่ภาพเก่า ตัวเลขก่อนหน้านี้เคยมีบั๊กจริง อ่านได้ เกือบห้าพันเปอร์เซ็นต์ เพราะตัวหารกับตัวตั้งนับข้อมูลคนละชุดกัน พวกเราแก้ตั้งแต่กลางเดือนแล้ว ตอนนี้ตัวเลขที่ถูกต้องคือรับข้อเสนอจาก Label Assist ไป 57 ครั้ง ยืนยันใช้จริง 19 กล่อง คิดเป็น 33.3% ตัวเลขนี้จะเปลี่ยนไปเรื่อยๆ ตามการใช้งานจริง เพราะคำนวณสดทุกครั้งที่เปิดหน้านี้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ตารางนับกรอบต่อคลาสในชุดข้อมูลกำกับสดของเว็บแอปครับ finger เยอะที่สุดเพราะติดอยู่แทบทุกเฟรมที่มีมือเข้าฉาก ส่วน needle กับ Stitch Scissors ยังน้อยอยู่ ซึ่งตรงกับที่พวกเราพูดถึงเป็นข้อจำกัดในส่วนผลการทดลองเช่นกัน ขอย้ำว่านี่คนละชุดกับชุดข้อมูลที่เอาไปเทรนโมเดลจริงนะครับ อันนี้คือข้อมูลดิบสดในเว็บแอปที่ยังกำกับไปเรื่อยๆ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เปลี่ยนมาที่ผลการดำเนินงานครับ ก่อนดูตัวเลข ขออธิบายตัวชี้วัดที่ใช้ก่อนสักครู่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ก่อนดูตัวเลข ขออนุญาตอธิบายตัวชี้วัดสักครู่ครับ IoU คือวัดว่ากรอบที่โมเดลทำนายซ้อนทับกรอบที่คนตีไว้กี่เปอร์เซ็นต์ ถ้าเกินเกณฑ์ที่ตั้งไว้ถือว่าทำนายถูก precision กับ recall เป็นคู่กัน precision ถามว่าในสิ่งที่โมเดลบอกว่าเจอ ถูกกี่เปอร์เซ็นต์ recall ถามว่าของจริงที่มีอยู่ โมเดลเจอกี่เปอร์เซ็นต์</a:t>
            </a:r>
          </a:p>
          <a:p>
            <a:endParaRPr/>
          </a:p>
          <a:p>
            <a:r>
              <a:t>mAP50 คือค่าเฉลี่ยความแม่นเมื่อใช้เกณฑ์ IoU ที่ 0.5 ซึ่งค่อนข้างผ่อนปรน กรอบถูกคร่าวๆ ก็ผ่าน นี่คือเลขหัวข่าวที่คนมักอ้างถึง ส่วน mAP50-95 เข้มกว่ามาก เพราะเฉลี่ยตั้งแต่เกณฑ์ 0.5 ไปจนถึง 0.95 มันจึงวัดคุณภาพของการวางตำแหน่งกรอบ ไม่ใช่แค่ว่าเจอหรือไม่เจอ</a:t>
            </a:r>
          </a:p>
          <a:p>
            <a:endParaRPr/>
          </a:p>
          <a:p>
            <a:r>
              <a:t>สรุปสั้นๆ mAP50 บอกว่า "เจอไหม" ส่วน mAP50-95 บอกว่า "กรอบตรงแค่ไหน" สองค่านี้ไม่ได้ขยับไปด้วยกันเสมอ ซึ่งจะเห็นในตารางถัดๆ ไปของส่วนนี้ครับ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ต่อจากนิยามตัวชี้วัดที่เพิ่งอธิบายไป ขอยกตัวอย่างจริงจากงานนี้เลยครับ ว่าทำไมพวกเราถึงต้องดู mAP50-95 ด้วย ไม่ใช่ดูแค่ mAP50</a:t>
            </a:r>
          </a:p>
          <a:p>
            <a:endParaRPr/>
          </a:p>
          <a:p>
            <a:r>
              <a:t>ตอนทดลองเพิ่มความละเอียดภาพจาก 640 เป็น 960 พิกเซล ถ้าดูแค่ mAP50 คือ 0.7163 กับ 0.7160 แทบเท่ากันเลย ถ้าเขียนสไลด์แค่บรรทัดนี้บรรทัดเดียวจะสรุปผิดว่าเพิ่มความละเอียดไม่ได้ช่วยอะไร</a:t>
            </a:r>
          </a:p>
          <a:p>
            <a:endParaRPr/>
          </a:p>
          <a:p>
            <a:r>
              <a:t>แต่พอขยับไปดู mAP50-95 ซึ่งเข้มถึง IoU 0.95 จะเห็นว่าขึ้นจาก 0.4366 เป็น 0.4532 ชัดเจน แปลว่ากรอบวางตำแหน่งแม่นขึ้นจริง และที่สำคัญกว่านั้นคือ recall ของ needle ซึ่งเป็นวัตถุเล็กที่สุดในชุดข้อมูลขึ้นจาก 0.24 เป็น 0.36 เลยครับ</a:t>
            </a:r>
          </a:p>
          <a:p>
            <a:endParaRPr/>
          </a:p>
          <a:p>
            <a:r>
              <a:t>สรุปคือการขยายเกณฑ์ IoU ให้เข้มขึ้นเรื่อยๆ แล้วเฉลี่ยรวม คือวิธีที่ทำให้เรารู้ว่าโมเดลดีขึ้นเพราะอะไรกันแน่ — เจอวัตถุมากขึ้น หรือวางกรอบแม่นขึ้น ถ้าใช้แค่ IoU 0.50 เกณฑ์เดียว ข้อมูลตรงนี้จะถูกซ่อนไปหมดเลยครับ และนี่คือเหตุผลที่พวกเรายังเลือกใช้ความละเอียด 960 ทั้งที่ mAP50 ไม่ขึ้น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ตารางแรกคือจำนวนกรอบต่อคลาส แบ่งตามชุดฝึก/ตรวจสอบ/ทดสอบครับ จะเห็นว่าข้อมูลไม่สมดุลกันมาก finger มีเกือบหมื่นกรอบ แต่ Stitch Scissors มีแค่ 29 กรอบรวมทุกชุด อันนี้เป็นข้อจำกัดที่พวกเรารู้ตัวและจะพูดถึงอีกครั้งตอนสรุป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ภาพรวมทั้งชุดข้อมูลครับ 2,190 ภาพ เกือบ 23,000 กรอบวัตถุ แบ่ง 72/18/10 ประมาณนี้สำหรับ train/valid/test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ตารางเทียบผลบน validation split ครับ baseline9-reannot คือโมเดลที่ใช้ชุดข้อมูล re-annotated ตัวเลขดีขึ้นกว่า aug960 เล็กน้อย แต่ขอเรียนตรงๆ ว่าเทียบทางสถิติตรงๆ ไม่ได้เพราะแบ่ง validation split กันคนละชุด เหตุผลที่พวกเรายังพูดว่าดีขึ้นเป็นเหตุผลเชิงผลิตภัณฑ์ ซึ่งจะอธิบายในสไลด์ถัดไป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ผลรายคลาสของ aug960 บนชุดทดสอบครับ needle ยังอ่อนที่สุดชัดเจน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ผลรายคลาสของ baseline9-reannot ครับ Stitch Scissors ดูดีขึ้นมากแต่มีแค่ 3 ภาพในชุดทดสอบ ตัวเลขจึงแกว่งง่าย ไม่ควรอ่านเป็นข้อสรุปที่มั่นคง ส่วน needle ยังอ่อนที่สุดเหมือนเดิมทั้งสองรุ่น ซึ่งยืนยันว่าเป็นปัญหาจริง ไม่ใช่ความบังเอิญ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พอมีชุดข้อมูลใหม่ พวกเราตั้งคำถามว่า ในเมื่อชุดข้อมูลไม่สมดุลมาก ควรจัดการความไม่สมดุลนั้นไหม และจัดการยังไงดี จึงทดลองสี่แบบ คุมทุกอย่างให้เท่ากันหมด ต่างกันแค่ชุดข้อมูลที่ป้อนเข้าไป</a:t>
            </a:r>
          </a:p>
          <a:p>
            <a:endParaRPr/>
          </a:p>
          <a:p>
            <a:r>
              <a:t>แบบแรกคือ 9 คลาสครบตามปกติ แบบที่สองตัด Stitch Scissors ที่มีน้อยมากออก แบบที่สามลดเหลือ 5 คลาส และแบบที่สี่สุ่มลดคลาส finger ที่มีเยอะที่สุดลงเพื่อให้สัดส่วนสมดุลขึ้น</a:t>
            </a:r>
          </a:p>
          <a:p>
            <a:endParaRPr/>
          </a:p>
          <a:p>
            <a:r>
              <a:t>ผลคือแบบที่ไม่ทำอะไรเลยชนะครับ การสุ่มลด finger กลับแย่ที่สุด ตกไปถึง 18 จุด เพราะภาพที่มี finger เยอะ ก็คือภาพที่มีคลาสอื่นอยู่ในนั้นด้วย พอสุ่มตัดภาพออก เราไม่ได้ตัดแค่ finger แต่ตัดตัวอย่างของคลาสอื่นทิ้งไปด้วยครับ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แผ่นนี้ตอบตรงๆ ว่าข้อมูล re-annotated ที่กำกับเพิ่มในเว็บแอปเราเอง ดีกว่าข้อมูลเดิมที่ export จาก Roboflow ตรงๆ แค่ไหนครับ ขอเรียนตรงๆ ว่าผลต่างไม่ได้เยอะ และไม่ได้ดีขึ้นทุกตัวชี้วัด — mAP50 ขึ้นประมาณ 0.9% precision กับ recall ขึ้นเล็กน้อย แต่ mAP50-95 ซึ่งเป็นเกณฑ์ที่เข้มกว่ากลับลดลงเล็กน้อย พวกเราเลือกแสดงตัวเลขตามจริงแบบนี้เพราะไม่อยากอ้างเกินจริง</a:t>
            </a:r>
          </a:p>
          <a:p>
            <a:endParaRPr/>
          </a:p>
          <a:p>
            <a:r>
              <a:t>สิ่งที่เปลี่ยนจริงในข้อมูลคือเพิ่มภาพ 299 ภาพ เพิ่มกรอบ 1,464 กรอบ เพิ่มคลาสใหม่สองคลาส และแบ่ง validation/test ใหม่แบบ stratified ซึ่งเหตุผลที่พวกเรามองว่าสำคัญกว่าตัวเลข mAP ที่ขยับเล็กน้อยคืออยู่ในสไลด์ถัดไปครับ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สองเหตุผลหลักครับ อย่างแรกคือข้อมูลเพิ่มขึ้นและมีคุณภาพขึ้นจากการ re-annotate อย่างที่สองคือการแบ่งชุดข้อมูลใหม่แบบ stratified ที่คำนึงถึงคลาสหายากอย่าง Stitch Scissors โดยเฉพาะ ทำให้ผลที่วัดได้น่าเชื่อถือกว่าการแบ่งแบบสุ่มธรรมดาของ Roboflow เดิม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สรุปครับ ระบบทำได้ตามเกณฑ์ที่ตั้งไว้ และเว็บแอปเป็นเครื่องมือที่ใช้งานจริงตลอดโครงงาน ไม่ใช่แค่ของประกอบ ข้อเสนอแนะสี่ข้อคือสิ่งที่พวกเรามองเห็นว่าเป็นก้าวถัดไป โดยเฉพาะข้อมูลเพิ่มเติมสำหรับคลาสหายาก และเป้าหมายปลายทางคือโมเดลวิเคราะห์ลำดับเหตุการณ์เชิงเวลา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แหล่งอ้างอิงหน้าแรกครับ ไม่ต้องพูดทีละรายการถ้าไม่ถูกถาม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แหล่งอ้างอิงหน้าที่สองครับ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(ไม่ต้องพูดเพิ่ม — เปิดรับคำถามจากอาจารย์)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(ไม่ต้องพูดเพิ่ม — ขึ้นค้างไว้ระหว่างตอบคำถามในช่วง Q&amp;A ทั้งหมด)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1560" y="1649186"/>
            <a:ext cx="978408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400"/>
              </a:spcAft>
            </a:pPr>
            <a:r>
              <a:rPr sz="4200" b="1" dirty="0" err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ระบบตรวจจับอุปกรณ์การเย็บแผล</a:t>
            </a:r>
            <a:r>
              <a:rPr sz="4200" b="1" dirty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
</a:t>
            </a:r>
            <a:r>
              <a:rPr sz="4200" b="1" dirty="0" err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ด้วยปัญญาประดิษฐ์</a:t>
            </a:r>
            <a:endParaRPr sz="4200" b="1" dirty="0">
              <a:solidFill>
                <a:srgbClr val="FFFFFF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dirty="0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Web Application Demonstration &amp; </a:t>
            </a:r>
            <a:r>
              <a:rPr sz="1700" b="0" dirty="0" err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  <a:endParaRPr sz="1700" b="0" dirty="0">
              <a:solidFill>
                <a:srgbClr val="E94560"/>
              </a:solidFill>
              <a:latin typeface="Leelawadee UI"/>
              <a:ea typeface="Leelawadee UI"/>
              <a:cs typeface="Leelawade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051560" y="4389120"/>
            <a:ext cx="97840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นางสาวตรีฤทัย แคยิหวา 66120361  ·  นางสาวฟ้าใส ขวัญปาน 66126467  ·  นายอภินันท์ อายุยงค์ 66112772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สาขาวิศวกรรมคอมพิวเตอร์และปัญญาประดิษฐ์  ·  ปีการศึกษา 2568  ·  เอกสารสรุปเฉพาะส่วนที่นำเสนอ (สาธิตเว็บแอป + ผลการดำเนินงาน)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Web Application Demonstration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สาธิตสี่ขั้นตอนหลักของเว็บแอป ตามด้วยภาพรวมสถาปัตยกรรม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1. สกัดเฟรม (Extract Frames)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2026-08-12__02-home-extract-ta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70632"/>
            <a:ext cx="448056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โหมด Adaptive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ตั้งจำนวนเฟรมเป้าหมายที่ต้องการ (ตัวอย่าง: 12 เฟรม) แทนการตั้งช่วงเวลาคงที่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กรองความซ้ำ/เบลออัตโนมัติ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Motion IoU threshold 2 · กรองเฟรมเบลอ threshold 5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ระบบข้ามเฟรมที่คล้ายเฟรมก่อนหน้าให้เอง (log: "คล้าย (score=1.7) ลอง frame ถัดไป")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ตัวเลือกเสริม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ตัด TRIM ช่วงเวลาได้ · resize ด้านยาวสุด (เช่น 1280px) · ตั้ง filename prefix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แยกโฟลเดอร์ต่อวิดีโอ · จำกัดจำนวนครั้งที่ลองใหม่ต่อสล็อต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ตัวอย่างผลจริง: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วิดีโอ 11.8 วิ · 355 เฟรมต้นฉบับ (30 FPS) → เหลือ 11 เฟรมที่ผ่านเกณฑ์ → ดาวน์โหลดเป็น ZIP ได้ทันที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66120361_extracted_content.md หน้า 2 (สไลด์ 18)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2. ตรวจจับ (Detect)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2026-08-12__06-detect-model-pick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70632"/>
            <a:ext cx="448056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เลือกแบบจำลองได้สองทาง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ไฟล์ .pt ในเครื่อง (local) หรือ Roboflow Cloud API (มีปุ่มยืนยันก่อนเรียกออกนอกเครื่องทุกครั้ง)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เลือก device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CPU (ค่าเริ่มต้น) / CUDA / MPS ถ้าเครื่องมี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ปรับ confidence threshold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ได้ก่อนรัน (ตัวอย่าง 0.25)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Augmentation ออฟไลน์สำหรับสร้างชุดข้อมูล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Flip · Rotation ±15° · Brightness/Contrast · Blur/Noise · Random Crop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(multiplier มากกว่า 1x ต้องติดตั้ง albumentations เพิ่มเอง ไม่ได้มาโดยดีฟอลต์)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Create Version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→ export เป็นชุดข้อมูลพร้อม ZIP ทันที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66120361_extracted_content.md หน้า 3 (สไลด์ 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3. กำกับข้อมูล (Annotate)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2026-08-12__10-annotate-overview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689193"/>
            <a:ext cx="4480560" cy="212883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แถบเครื่องมือ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Select / Draw / Polygon / Keypoint / Needs Review / Mark as Reviewed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ค้นด้วย OCR text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ที่ระบบอ่านจากภาพให้เอง กรอง/ยืนยันเป็นชุดได้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AI SUGGESTIONS (เส้นประ)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กรอบที่มาจาก Detect/Label Assist/interpolate ยังไม่ยืนยัน พร้อม confidence ต่อกล่อง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ปุ่ม Confirm All / Reject All ทีเดียว หรือติ๊ก occluded/truncated ต่อกล่อง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INTERPOLATE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ตั้ง keyframe เริ่ม-จบ ให้ระบบเดากรอบเฟรมระหว่างกลางให้อัตโนมัติ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นับสถานะให้อัตโนมัติ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Frame x/N · จำนวนกรอบทั้งหมด (unconfirmed เท่าไหร่) · reviewed กี่เฟรม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66120361_extracted_content.md หน้า 4 (สไลด์ 19)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4. ส่งออก (Export)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2026-08-12__12-export-forma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70632"/>
            <a:ext cx="448056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Version Info &amp; Dataset Status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จำนวนเฟรมพร้อม export ล่าสุด พร้อม badge Total / Classes / Unreviewed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เลือกรูปแบบ export ได้ 3 แบบ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Detect (bbox) / Segment (polygon) / Pose (keypoint)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ระบบแปลงกรอบ bbox-only ให้ใช้ได้ทั้ง 3 รูปแบบอัตโนมัติ เพื่อให้ dataset ผสมเทรนได้ทุกแบบ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ตั้งสัดส่วน Train/Val/Test เอง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(ตัวอย่าง 70/20/10)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Preprocessing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resize ให้พอดีกรอบ 640×640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Augmentation ชุดเดียวกับตอน Detect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(multiplier 1x เป็นค่าเริ่มต้น) → ดาวน์โหลดเป็น ZIP พร้อมเทรนได้ทันที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66120361_extracted_content.md หน้า 5 (สไลด์ 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System Framework (บริการที่เว็บแอปวิ่งอยู่บน)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12-system-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50591"/>
            <a:ext cx="4480560" cy="2606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Frontend ไม่ใช่บริการแยก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index.html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app.js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·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style.css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เป็นไฟล์ static ธรรมดา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ไม่มี framework ไม่มีขั้นตอน build เสิร์ฟผ่าน </a:t>
            </a:r>
            <a:r>
              <a:rPr sz="14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app.mount("/", StaticFiles(...))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Server คือบริการจริงหนึ่งเดียว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FastAPI + Uvicorn โปรเซสเดียว รับทั้ง 38 endpoint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ของ API และไฟล์ static พร้อมกัน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ไม่มี Database service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ใช้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webapp/state.json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ไฟล์แบนราบไฟล์เดียว เขียนแบบ atomic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(tmp แล้วค่อย rename) </a:t>
            </a:r>
            <a:r>
              <a:rPr sz="15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เป็นการตัดสินใจเชิงออกแบบ ไม่ใช่ข้อจำกัด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500" b="1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Roboflow Cloud API เป็นบริการภายนอก เสริมทางเลือก ไม่นับเป็นหนึ่งใน 3 บริการหลักนี้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server.py (นับ route จริง 38 เส้นทาง ณ 17 ส.ค. 2569)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Infrastructure (Frontend / Server / Database Service)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B2-deploy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39212"/>
            <a:ext cx="448056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Frontend Service — ไม่ใช่บริการแยก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เสิร์ฟเป็นไฟล์ static จากโปรเซสเดียวกับ Server (ดู System Framework)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Server Service — ปัจจุบันรัน local เครื่องเดียว ยังไม่ได้ deploy ขึ้นจริง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มี runbook + config พร้อมใช้แล้ว (เพิ่มเข้ามาที่ commit </a:t>
            </a:r>
            <a:r>
              <a:rPr sz="14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8e704c8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): VPS DigitalOcean/Vultr (สิงคโปร์) · Ubuntu 24.04 · ไม่ใช้ GPU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รันเป็น systemd service ตัวเดียว (</a:t>
            </a:r>
            <a:r>
              <a:rPr sz="15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single worker เท่านั้น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— state เป็น in-process dict ถ้ามีหลาย worker จะเขียนทับกัน) หลังบ้านมี </a:t>
            </a:r>
            <a:r>
              <a:rPr sz="15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Caddy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เป็น reverse proxy ออก HTTPS ให้อัตโนมัติ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</a:t>
            </a:r>
            <a:r>
              <a:rPr sz="15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เสริม (ชั่วคราว ไม่ใช่แผน deploy จริง):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เคยใช้ </a:t>
            </a:r>
            <a:r>
              <a:rPr sz="15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Cloudflare Tunnel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(</a:t>
            </a:r>
            <a:r>
              <a:rPr sz="14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cloudflared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) สร้างลิงก์ชั่วคราวเข้าเครื่อง local ให้ดูได้ทันทีโดยไม่ต้องรอ VPS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Database Service — ไม่มี และไม่มีแผนจะมี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ใช้ </a:t>
            </a:r>
            <a:r>
              <a:rPr sz="14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state.json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ไฟล์แบนราบแทน เป็นการตัดสินใจเชิงออกแบบ — instance สาธารณะจะเริ่มด้วย </a:t>
            </a:r>
            <a:r>
              <a:rPr sz="14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data/</a:t>
            </a: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 ว่างเปล่า ไม่เอาชุดข้อมูลจริงของโครงงานขึ้นไป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อื่นๆ ที่เว็บใช้แทนระบบ login ที่ตัดออกแล้ว: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ULTRALYTICS_SAFE_LOAD (กันโหลด </a:t>
            </a:r>
            <a:r>
              <a:rPr sz="1500" b="0">
                <a:solidFill>
                  <a:srgbClr val="5C6B7A"/>
                </a:solidFill>
                <a:latin typeface="Consolas"/>
                <a:ea typeface="Consolas"/>
                <a:cs typeface="Consolas"/>
              </a:rPr>
              <a:t>.pt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อันตราย) · rate limit ต่อ IP · disk-space floor · request body 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source-docs/WORK_PLAN.md §1 (ตัดสินใจ CPU-only 30 ก.ค. 2569) · webapp/deploy/DEPLOY.md, Caddyfile, frame-extractor.service (commit 8e704c8) · webapp/README.md §Deploying it publicly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Analytics — AI-Assist Accept Rate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5" name="Picture 4" descr="2026-08-17__14-analytics-l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320345"/>
            <a:ext cx="4480560" cy="28665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536192"/>
            <a:ext cx="592805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Accept rate ปัจจุบัน: 33.3%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19 จาก 57 กล่องที่ Label Assist เคยเสนอถูกยืนยันใช้จริง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Assist calls ที่นับได้: 3 ครั้ง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(มีอีก 55 ครั้งเก่ากว่าระบบติดตามผล แยกไม่ออกจากผล Detect ปกติ จึงไม่นับ)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กล่องจากโมเดลทั้งหมดทุกช่องทาง: 28,213 กล่อง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รายงานแยกต่างหาก ไม่หารรวมเป็น rate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เคยมีบั๊ก: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ตัวเลขเดิมอ่านได้ 4834.6% เพราะตัวหารกับตัวตั้งนับคนละอย่างกัน (ตัวหารนับเฉพาะที่เสนอผ่าน /assist แต่ตัวตั้งนับกล่องจากโมเดลทุกช่องทางรวม bulk detect) — แก้แล้วตั้งแต่ 13 ส.ค. 2569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1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Dataset Status ปัจจุบัน:</a:t>
            </a: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4,761 เฟรม · มีกรอบ 3,723 เฟรม · ตรวจทานแล้ว 15 เฟรม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ภาพหน้าจอสดจาก /api/analytics ถ่าย 17 ส.ค. 2569 · server.py:1946-2028 (สูตรคำนวณ accept rate)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ส่วน 6 · Web Application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Analytics — Detections by Class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5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5469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4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คลาส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จำนวนกรอบ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finger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17,315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wound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3,678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needle_holder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2,651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2,237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hand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804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785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Tip_needle_holder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589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Stitch Scissors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Tip_forcep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31536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รวม 28,240 กรอบ จาก 4,761 เฟรม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(ณ 17 ส.ค. 2569) — ตัวเลขนี้เปลี่ยนได้เมื่อมีการกำกับข้อมูลเพิ่ม นี่คือชุดข้อมูลกำกับสดในเว็บแอป คนละตัวกับชุด re-annotated 2,489 ภาพ / 24,421 กรอบ ที่ใช้เทรนโมเดลในส่วนผลการทดลอง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/api/analytics (class_counts) ถ่าย 17 ส.ค. 2569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Results Summary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ตัวชี้วัดที่ใช้ → สถิติชุดข้อมูล → ผลการทดลอง → เหตุผลที่โมเดลรุ่นล่าสุดดีขึ้น → สรุปและข้อเสนอแนะ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ตัวชี้วัดที่ใช้ในส่วนนี้ — mAP50 vs mAP50-95 ต่างกันยังไง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3" cy="23042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116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9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ตัวชี้วัด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ถามว่าอะไร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ตัวอย่างจากงานนี้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IoU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กรอบที่ทำนายซ้อนทับกรอบจริงกี่เปอร์เซ็นต์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IoU 0.5 = ซ้อนทับครึ่งหนึ่ง = "ถูกแบบคร่าวๆ"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precision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ในสิ่งที่โมเดลบอกว่าเจอ ถูกกี่ %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 = บอกว่าเจอ 100 อัน ถูกจริง 73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recall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ในของที่มีอยู่จริง โมเดลเจอกี่ %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 0.36 = มีเข็ม 100 อัน เจอ 36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ค่าเฉลี่ยความแม่น ณ เกณฑ์ IoU 0.50 (ผ่อนปรน)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ตัวอย่าง: 0.7160 (รอบ aug960) — เลขหัวข่าวที่คนมักอ้างถึง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mAP50-95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เฉลี่ยตั้งแต่ IoU 0.50 ถึง 0.95 ทีละ 0.05 (เข้มกว่ามาก) → วัดคุณภาพการวางตำแหน่งกรอบ ไม่ใช่แค่เจอหรือไม่เจอ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0.4532 — ต่ำกว่า mAP50 เสมอ เพราะเกณฑ์เข้มกว่า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3895344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สรุปสั้นๆ: mAP50 บอกว่า "เจอไหม" · mAP50-95 บอกว่า "กรอบตรงตำแหน่งแค่ไหน"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สองค่านี้ไม่ได้ขยับไปด้วยกันเสมอ (เช่น ตารางถัดๆ ไปที่ mAP50 ขึ้นแต่ mAP50-95 ลง)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นิยามตัวชี้วัดตาม COCO evaluation protocol — cocodataset.org/#detection-eval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ตัวอย่างจริง: ขยายเกณฑ์ถึง IoU 0.95 แล้วเห็นอะไรที่ IoU 0.50 มองไม่เห็น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ทดลองเพิ่มความละเอียดภาพจาก 640px → 960px (แถวล่างสุด 2 แถว, คุมรอบ/ชุดข้อมูลเท่ากัน)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911532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97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3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64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938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8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16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รอบการทดลอง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mAP50-95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precision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recall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เวลา (นาที)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noaug · 640px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0.5746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0.3245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0.6985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0.5417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43.5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 · 640px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0.6559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0.4007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0.6872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0.6641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49.7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aug150 · 640px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0.7163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0.4366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0.7702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0.7090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162.6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aug960 · 960px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0.7160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0.4532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0.7335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0.7173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97.9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78224"/>
            <a:ext cx="10911535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เทียบที่ IoU 0.50 (คอลัมน์ mAP50): 0.7163 vs 0.7160 — แทบไม่ต่างกันเลย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ถ้าดูแค่ค่านี้ค่าเดียวจะสรุปว่า "เพิ่มความละเอียดไม่ช่วยอะไร"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แต่พอขยายเกณฑ์ไปถึง IoU 0.95 (คอลัมน์ mAP50-95): 0.4366 → 0.4532 ขึ้นชัดเจน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แปลว่ากรอบวางตำแหน่งแม่นขึ้นจริง แถมความละเอียด 960px ยังทำให้ recall ของคลาส needle (วัตถุเล็กที่สุดในชุดข้อมูล) ขึ้นจาก 0.2435 เป็น 0.3579 ด้วย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สรุป: การเทียบผลข้าม IoU ตั้งแต่หลวม (0.50) ถึงเข้ม (0.95) เป็นวิธีแยกว่าโมเดลดีขึ้นเพราะ "เจอวัตถุมากขึ้น" หรือ "วางตำแหน่งกรอบแม่นขึ้น" — สองอย่างนี้ mAP50 อย่างเดียวแยกไม่ออก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ทุกแถวรวม Stitch Scissors (16 กรอบ) อยู่ด้วย — ตัดออก แถว 960px เหลือ mAP50 0.6990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results-comparison/val/benchmark_comparison.md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สถิติของชุดข้อมูล — จำนวนกรอบต่อคลาส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1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4916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4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4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คลาส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ชุดฝึก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ตรวจสอบ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ทดสอบ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รวม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finger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7,157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1,775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952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9,884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needle_holder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1,947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525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257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2,729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wound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1,742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467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254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2,463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1,387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366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191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1,944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hand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1,339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364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181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1,884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1,238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340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1,754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Tip_needle_holder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1,031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291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145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1,467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564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158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803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Stitch Scissors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16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10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29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31536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Stitch Scissors มีแค่ 16 กรอบในชุดฝึก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น้อยเกินกว่าจะสรุปอะไรได้ และคะแนนแกว่งมากข้ามรอบการทดลอง (กลับมาพูดอีกครั้งที่สไลด์ผลการทดลอง)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results_reannot/class_distribution.md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สถิติของชุดข้อมูล — จำนวนภาพและกรอบต่อ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3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67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5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78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ชุดข้อมูล (Split)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จำนวนภาพ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จำนวนกรอบวัตถุ (boxes)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Train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1,575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16,421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Valid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4,296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Test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215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2,240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รวม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2,190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22,957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results_reannot/class_distribution.md · ml/data/ssid9_bbox/data.yaml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Model Result — Validation split / Benchmark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โมเดลหลักที่นำเสนอคือ baseline9-reannot (ชุดข้อมูล re-annotated)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911534" cy="11521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1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5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55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16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run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mAP50_95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precision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recall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aug960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0.7160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0.4532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0.7335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0.7173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baseline9-reannot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0.7225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0.4444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0.7359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0.7290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310128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ชุด re-annotated แบ่ง validation split ใหม่ จึงเทียบกับ aug960 ทางสถิติตรงๆ ไม่ได้ — เหตุผลที่ดีขึ้นเป็นเชิงผลิตภัณฑ์ ดูสไลด์ถัดไป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results_reannot/benchmark_comparison.md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Model Result — per-class metrics (test) — aug960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9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8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37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5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3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id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class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images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instances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precision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recall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f1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mAP50_95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Stitch Scissors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0.8106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0.6667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0.7316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0.6650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0.3990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77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0.7669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0.7531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0.7599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0.7374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0.3500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Tip_needle_holder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139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145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0.7819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0.7911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0.7865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0.8434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0.3952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finger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952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0.7209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0.8246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0.7693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0.8137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0.4604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forcep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123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0.8259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0.6989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0.7571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0.7312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0.5968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hand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181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0.6176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0.9012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0.7329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0.6444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0.5984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131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191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0.6211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0.3351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0.4353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0.3556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0.1586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needle_holder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170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257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0.7630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0.7549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0.7589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0.7550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0.5869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wound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195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254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0.6900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0.5079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0.5851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0.6578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0.3678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31536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needle (แถวเน้น) ยังเป็นคลาสที่อ่อนที่สุด mAP50 0.3556 — ปัญหาขนาดวัตถุ ไม่ใช่ปัญหาการจำแนก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results_reannot/test/aug960_per_class_metrics.md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Model Result — per-class metrics (test) — baseline9-reannot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44752"/>
          <a:ext cx="10911530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891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37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8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3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85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37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58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344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id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class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images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instances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precision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recall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f1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mAP50_95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Stitch Scissors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0.8663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1.0000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0.9284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0.9950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0.5980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Tip_forcep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0.7439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0.7294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0.7366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0.6852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0.2949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Tip_needle_holder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153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157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0.8113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0.8766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0.8427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0.8422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0.4030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finger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189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915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0.6855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0.8206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0.7471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0.7565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0.4285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forcep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115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153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0.7792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0.7647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0.7719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0.7914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0.5907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hand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45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137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0.5116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0.8467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0.6378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0.5309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0.4824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6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128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165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0.5437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0.4000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0.4609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0.3338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0.1375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needle_holder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187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258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0.7275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0.8070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0.7652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0.8059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0.5936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wound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232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273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0.7728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0.6356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0.6975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0.7401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0.3884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5431536"/>
            <a:ext cx="10911535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needle ยังเป็นคลาสที่อ่อนที่สุดในรุ่นนี้เช่นกัน mAP50 0.3338 — สอดคล้องกับ aug960 ยืนยันว่าเป็นปัญหาขนาดวัตถุจริง ไม่ใช่ความบังเอิญของรอบทดลองใดรอบหนึ่ง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results_reannot/test/baseline9-reannot_per_class_metrics.md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การทดลอง balance กรอบคลาส finger ด้วยการสุ่ม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คำถาม: ชุดข้อมูลไม่สมดุลมาก (finger เยอะกว่า Stitch Scissors ~340 เท่า) ควรสุ่มลดคลาสที่มีเยอะไหม?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911535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687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9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4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2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แบบ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ชุดข้อมูลต่างยังไง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mAP50-95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Δ mAP50 vs baseline (จุด)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baseline9-reannot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9 คลาสครบ (ไม่ทำอะไรเพิ่ม)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0.7169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0.4312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— (อ้างอิง)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drop-stitch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ตัด Stitch Scissors ออก เหลือ 8 คลาส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0.7062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0.4272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−1.1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class5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เหลือ 5 คลาสแบบระยะที่ 1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0.6807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0.4310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−3.6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balanced-finger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สุ่มลดภาพที่มี finger ให้สัดส่วนสมดุลขึ้น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0.5343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0.3006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−18.3</a:t>
                      </a:r>
                    </a:p>
                  </a:txBody>
                  <a:tcPr marL="82296" marR="82296" marT="18288" marB="18288" anchor="ctr">
                    <a:solidFill>
                      <a:srgbClr val="FDEA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78224"/>
            <a:ext cx="10911535" cy="9875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ทดลอง 4 แบบบนชุด re-annotated ที่ 50 รอบ คุมให้ต่างกันแค่ชุดข้อมูล — วัดบนชุดตรวจสอบเดียวกันทั้ง 4 แบบ เทียบกันเองได้สะอาด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"18 จุด" คือ percentage point ของ mAP50 เทียบกับ baseline9-reannot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(0.7169 − 0.5343 = 0.1826 ≈ 18.3 จุด บนสเกล mAP50 0-100%) — คอลัมน์ขวาสุดคือค่านี้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ข้อสรุป: การสุ่มลด finger ทำให้แย่ที่สุดในบรรดา 4 แบบ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เพราะภาพที่มี finger เยอะมักมีคลาสอื่นติดอยู่ในภาพเดียวกันด้วย พอสุ่มตัดภาพออกเลยตัดตัวอย่างของคลาสอื่นทิ้งไปพร้อมกัน —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สรุปคือ "ไม่ทำอะไรเลย" (ใช้ 9 คลาสครบ) ยังดีที่สุด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ตัวเลขชุดนี้วัดบนชุดตรวจสอบที่แบ่งใหม่ เทียบกับ 0.7160/0.7225 ของสไลด์ก่อนหน้าตรงๆ ไม่ได้ (คนละ split) แต่เทียบกันเองใน 4 แบบนี้ได้สะอาด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results_reannot_screening/benchmark_comparison.md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ข้อมูล re-annotated ดีกว่าข้อมูลเดิมจาก Roboflow แค่ไหน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F3460"/>
                </a:solidFill>
                <a:latin typeface="Leelawadee UI"/>
                <a:ea typeface="Leelawadee UI"/>
                <a:cs typeface="Leelawadee UI"/>
              </a:rPr>
              <a:t>aug960 เทรนจากข้อมูลรอบแรกที่ export จาก Roboflow ตรงๆ · baseline9-reannot เทรนจากข้อมูลที่กลับไปกำกับเพิ่มในเว็บแอปของทีมเอง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911534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8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22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4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ตัวชี้วัด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ข้อมูลเดิม (Roboflow) aug960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ข้อมูล re-annotated baseline9-reannot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ผลต่าง</a:t>
                      </a:r>
                    </a:p>
                  </a:txBody>
                  <a:tcPr marL="82296" marR="82296" marT="18288" marB="18288" anchor="ctr">
                    <a:solidFill>
                      <a:srgbClr val="0F34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0.7160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0.7225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+0.0065 (+0.9%)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mAP50-95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0.4532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0.4444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−0.0088 (−1.9%)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precision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0.7335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0.7359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+0.0024 (+0.3%)</a:t>
                      </a:r>
                    </a:p>
                  </a:txBody>
                  <a:tcPr marL="82296" marR="82296" marT="18288" marB="18288" anchor="ctr"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recall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0.7173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0.7290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A1A2E"/>
                          </a:solidFill>
                          <a:latin typeface="Leelawadee UI"/>
                          <a:ea typeface="Leelawadee UI"/>
                          <a:cs typeface="Leelawadee UI"/>
                        </a:rPr>
                        <a:t>+0.0117 (+1.6%)</a:t>
                      </a:r>
                    </a:p>
                  </a:txBody>
                  <a:tcPr marL="82296" marR="82296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4078224"/>
            <a:ext cx="10911535" cy="749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ผลต่างเล็กน้อยและไม่ได้ดีขึ้นทุกด้าน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— mAP50/precision/recall ขึ้นเล็กน้อย แต่ mAP50-95 (เกณฑ์ IoU เข้มกว่า) ลดลงเล็กน้อย แสดงตัวเลขตามจริงเพื่อความโปร่งใส ไม่ใช่การอ้างว่าดีขึ้นทุกตัวชี้วัด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4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สิ่งที่เปลี่ยนในข้อมูล:</a:t>
            </a:r>
            <a:r>
              <a:rPr sz="14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 2,190→2,489 ภาพ (+299) · 22,957→24,421 กรอบ (+1,464) · เพิ่ม 2 คลาสใหม่ (Tip_needle_holder, Tip_forcep) · re-split แบบ stratified ใหม่ 72/18/10 (ดูเหตุผลเต็มในสไลด์ถัดไป)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C97A00"/>
                </a:solidFill>
                <a:latin typeface="Leelawadee UI"/>
                <a:ea typeface="Leelawadee UI"/>
                <a:cs typeface="Leelawadee UI"/>
              </a:rPr>
              <a:t>⚠ วัดบนชุดตรวจสอบคนละชุด (สอง split แยกกันคนละครั้ง) เทียบกันตรงๆ ทางสถิติไม่ได้ — ตัวเลขนี้แสดงเพื่อให้เห็นขนาดของผลต่าง ไม่ใช่การอ้างชัยชนะทางสถิติ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results-comparison/val/benchmark_comparison.md · results-reannot/val/benchmark_comparison.md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เหตุผลที่ baseline9-reannot ดีกว่า aug960 ใน Validation split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1. ข้อมูลที่เพิ่มขึ้นและมีคุณภาพ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baseline9-reannot ใช้ชุดข้อมูลที่ re-annotate ใหม่ จำนวนภาพและ instance ต่อคลาสเพิ่มขึ้น ทำให้โมเดลมีข้อมูลหลากหลายและเพียงพอต่อการเรียนรู้มากขึ้น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500" b="0">
              <a:solidFill>
                <a:srgbClr val="5C6B7A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2. การแบ่งชุดข้อมูลที่เหมาะสม (Re-split)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re-split ใหม่เป็นอัตราส่วน 72/18/10 สำหรับ train/valid/test พร้อม stratified splitting โดยพิจารณาคลาส Stitch Scissors เป็นพิเศษ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ให้ทุกคลาสกระจายตัวเหมาะสมในทุกชุดข้อมูล ช่วยให้ผลบน validation split น่าเชื่อถือขึ้น และลดปัญหา overfit/underfit ได้ดีกว่าชุดข้อมูลเริ่มต้นของ Roboflow ที่มี valid/test น้อยเกินไป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66120361_extracted_content.md หน้า 11 (สไลด์ 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สรุปผลและข้อเสนอแนะ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ระบบสามารถตรวจจับและจำแนกอุปกรณ์เย็บแผลด้วย YOLOv11 ได้ตามเกณฑ์ที่กำหนด และเว็บแอปพลิเคชันสามารถสนับสนุนกระบวนการเตรียมชุดข้อมูลได้จริง โดยการเพิ่มขยายข้อมูลมีความสำคัญอย่างยิ่งต่อประสิทธิภาพของแบบจำลองบนชุดข้อมูลขนาดเล็ก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1A1A2E"/>
              </a:solidFill>
              <a:latin typeface="Leelawadee UI"/>
              <a:ea typeface="Leelawadee UI"/>
              <a:cs typeface="Leelawadee UI"/>
            </a:endParaRP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</a:t>
            </a:r>
            <a:r>
              <a:rPr sz="16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ข้อเสนอแนะ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1. เก็บข้อมูลเพิ่มเติมสำหรับคลาสที่มีตัวอย่างน้อย เช่น needle และ Stitch Scissors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2. ปรับแต่ง Augmentation เฉพาะสำหรับวัตถุขนาดเล็ก เช่น Copy-paste Augmentation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3. เพิ่มจำนวน epoch ในการฝึกฝนรอบ aug เนื่องจากยังไม่พบสัญญาณ Overfitting</a:t>
            </a:r>
          </a:p>
          <a:p>
            <a:pPr marL="292608" indent="0"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–  4. พัฒนาแบบจำลอง RNN/LSTM/GRU เพื่อวิเคราะห์ลำดับขั้นตอนการเย็บแผลเชิงเวลา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66120361_extracted_content.md หน้า 12 (สไลด์ 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References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[1] กรมการแพทย์ กระทรวงสาธารณสุข. (2565). คู่มือแนวทางการฝึกทักษะหัตถการทางการแพทย์พื้นฐานสำหรับแพทย์ฝึกหัด. โรงพิมพ์ชุมนุมสหกรณ์การเกษตรแห่งประเทศไทย.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[2] เรืองศักดิ์ ทรงพรหม. (2567). การประยุกต์ใช้คอมพิวเตอร์วิทัศน์ในงานสาธารณสุขยุคดิจิทัล. วารสารเทคโนโลยีและนวัตกรรมทางการแพทย์, 10(2), 145–158.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[3] Bradski, G. (2000). The OpenCV library. Dr. Dobb's Journal of Software Tools, 25(11), 120–125.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[4] Hochreiter, S., &amp; Schmidhuber, J. (1997). Long short-term memory. Neural Computation, 9(8), 1735–1780.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[5] Kotthapalli, M., Ravipati, D., &amp; Bhatia, R. (2025). YOLOv1 to YOLOv11: A comprehensive survey of real-time object detection innovations and challenges. arXiv.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[6] Paszke, A., Gross, S., Massa, F., Lerer, A., Chintala, S., et al. (2019). PyTorch: An imperative style, high-performance deep learning library. NeurIPS, 32, 8024–8035.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[7] Redmon, J., Divvala, S., Girshick, R., &amp; Farhadi, A. (2016). You only look once: Unified, real-time object detection. CVPR, 779–788.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[8] Smith, J., Johnson, M., &amp; Williams, K. (2021). Automated surgical instrument detection in operating rooms using two-stage object detectors. Int. J. CARS, 16(4), 512–524.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66120361_extracted_content.md หน้า 13 — ต่อหน้า 2/2 ถัดไป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10896"/>
            <a:ext cx="10911535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11535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References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88720"/>
            <a:ext cx="1325880" cy="50292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444752"/>
            <a:ext cx="10911535" cy="4617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[9] Ultralytics LLC. (2023). YOLOv8 docs: Real-time object detection and predictive analytics framework. Retrieved June 8, 2026.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[10] Wang, A., Lee, C., &amp; Kim, H. (2023). Temporal sequence analysis for laparoscopic surgery skill assessment using LSTM networks. IEEE Trans. Medical Robotics and Bionics, 5(1), 89–101.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[11] A glove-wearing detection algorithm based on improved YOLOv8. (n.d.). PubMed Central (PMC).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[12] Optimization of a web-based, real-time, file-based human detection system using YOLOv8 and the Flask framework. (2025). Global J. Engineering and Technology Advances, 24(1), 144–150.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[13] Real-time object detection and counting for inventory management using fine-tuned YOLOv11. (n.d.). Multimedia Tools and Applications.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[14] Real-time tool detection in smart manufacturing using You-Only-Look-Once (YOLO)v5. (n.d.). Manufacturing Letters.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[15] YOLOv8: An improved real-time detection of safety equipment in different lighting scenarios on construction sites. (n.d.). ResearchGate.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1A1A2E"/>
                </a:solidFill>
                <a:latin typeface="Leelawadee UI"/>
                <a:ea typeface="Leelawadee UI"/>
                <a:cs typeface="Leelawadee UI"/>
              </a:rPr>
              <a:t>▪  [16] YOLOv8-MCDE for lightweight detection of small instruments in complex backgrounds from inspection robots' perspective. (n.d.). Scientific Reports.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09360"/>
            <a:ext cx="9631375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ที่มา: 66120361_extracted_content.md หน้า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Q &amp;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34440" y="2468880"/>
            <a:ext cx="96012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94560"/>
                </a:solidFill>
                <a:latin typeface="Leelawadee UI"/>
                <a:ea typeface="Leelawadee UI"/>
                <a:cs typeface="Leelawadee UI"/>
              </a:rPr>
              <a:t>สรุปผลการดำเนินงาน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sz="3600" b="1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ขอบคุณครับ/ค่ะ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นางสาวตรีฤทัย แคยิหวา 66120361  ·  นางสาวฟ้าใส ขวัญปาน 66126467  ·  นายอภินันท์ อายุยงค์ 66112772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62895" y="6345936"/>
            <a:ext cx="118872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Leelawadee UI"/>
                <a:ea typeface="Leelawadee UI"/>
                <a:cs typeface="Leelawadee UI"/>
              </a:rPr>
              <a:t>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ระบบตรวจจับอุปกรณ์การเย็บแผล">
      <a:dk1>
        <a:srgbClr val="1A1A2E"/>
      </a:dk1>
      <a:lt1>
        <a:srgbClr val="FFFFFF"/>
      </a:lt1>
      <a:dk2>
        <a:srgbClr val="16213E"/>
      </a:dk2>
      <a:lt2>
        <a:srgbClr val="F5F6FA"/>
      </a:lt2>
      <a:accent1>
        <a:srgbClr val="E94560"/>
      </a:accent1>
      <a:accent2>
        <a:srgbClr val="0F3460"/>
      </a:accent2>
      <a:accent3>
        <a:srgbClr val="2F9E78"/>
      </a:accent3>
      <a:accent4>
        <a:srgbClr val="C97A00"/>
      </a:accent4>
      <a:accent5>
        <a:srgbClr val="5C6B7A"/>
      </a:accent5>
      <a:accent6>
        <a:srgbClr val="16213E"/>
      </a:accent6>
      <a:hlink>
        <a:srgbClr val="0F3460"/>
      </a:hlink>
      <a:folHlink>
        <a:srgbClr val="5C6B7A"/>
      </a:folHlink>
    </a:clrScheme>
    <a:fontScheme name="Leelawadee UI">
      <a:majorFont>
        <a:latin typeface="Leelawadee UI"/>
        <a:ea typeface="Leelawadee UI"/>
        <a:cs typeface="Leelawadee UI"/>
      </a:majorFont>
      <a:minorFont>
        <a:latin typeface="Leelawadee UI"/>
        <a:ea typeface="Leelawadee UI"/>
        <a:cs typeface="Leelawadee U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5559</Words>
  <Application>Microsoft Office PowerPoint</Application>
  <PresentationFormat>แบบจอกว้าง</PresentationFormat>
  <Paragraphs>620</Paragraphs>
  <Slides>26</Slides>
  <Notes>25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26</vt:i4>
      </vt:variant>
    </vt:vector>
  </HeadingPairs>
  <TitlesOfParts>
    <vt:vector size="31" baseType="lpstr">
      <vt:lpstr>Aptos</vt:lpstr>
      <vt:lpstr>Arial</vt:lpstr>
      <vt:lpstr>Consolas</vt:lpstr>
      <vt:lpstr>Leelawadee UI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Apinan Aryuyong</cp:lastModifiedBy>
  <cp:revision>1</cp:revision>
  <dcterms:created xsi:type="dcterms:W3CDTF">2013-01-27T09:14:16Z</dcterms:created>
  <dcterms:modified xsi:type="dcterms:W3CDTF">2026-08-17T05:37:52Z</dcterms:modified>
  <cp:category/>
</cp:coreProperties>
</file>