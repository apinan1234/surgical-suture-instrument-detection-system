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microsoft.com/office/2016/11/relationships/changesInfo" Target="changesInfos/changesInfo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pinan Aryuyong" userId="f779afec2317b3b7" providerId="LiveId" clId="{4245F615-ABAD-4B08-A787-3534D6902770}"/>
    <pc:docChg chg="undo custSel modSld">
      <pc:chgData name="Apinan Aryuyong" userId="f779afec2317b3b7" providerId="LiveId" clId="{4245F615-ABAD-4B08-A787-3534D6902770}" dt="2026-08-17T01:06:34.686" v="24" actId="20577"/>
      <pc:docMkLst>
        <pc:docMk/>
      </pc:docMkLst>
      <pc:sldChg chg="modSp mod">
        <pc:chgData name="Apinan Aryuyong" userId="f779afec2317b3b7" providerId="LiveId" clId="{4245F615-ABAD-4B08-A787-3534D6902770}" dt="2026-08-17T00:58:07.197" v="3" actId="1076"/>
        <pc:sldMkLst>
          <pc:docMk/>
          <pc:sldMk cId="0" sldId="325"/>
        </pc:sldMkLst>
        <pc:spChg chg="mod">
          <ac:chgData name="Apinan Aryuyong" userId="f779afec2317b3b7" providerId="LiveId" clId="{4245F615-ABAD-4B08-A787-3534D6902770}" dt="2026-08-17T00:58:07.197" v="3" actId="1076"/>
          <ac:spMkLst>
            <pc:docMk/>
            <pc:sldMk cId="0" sldId="325"/>
            <ac:spMk id="6" creationId="{00000000-0000-0000-0000-000000000000}"/>
          </ac:spMkLst>
        </pc:spChg>
        <pc:spChg chg="mod">
          <ac:chgData name="Apinan Aryuyong" userId="f779afec2317b3b7" providerId="LiveId" clId="{4245F615-ABAD-4B08-A787-3534D6902770}" dt="2026-08-17T00:57:35.921" v="0" actId="1076"/>
          <ac:spMkLst>
            <pc:docMk/>
            <pc:sldMk cId="0" sldId="325"/>
            <ac:spMk id="7" creationId="{00000000-0000-0000-0000-000000000000}"/>
          </ac:spMkLst>
        </pc:spChg>
        <pc:spChg chg="mod">
          <ac:chgData name="Apinan Aryuyong" userId="f779afec2317b3b7" providerId="LiveId" clId="{4245F615-ABAD-4B08-A787-3534D6902770}" dt="2026-08-17T00:57:49.790" v="1" actId="1076"/>
          <ac:spMkLst>
            <pc:docMk/>
            <pc:sldMk cId="0" sldId="325"/>
            <ac:spMk id="8" creationId="{00000000-0000-0000-0000-000000000000}"/>
          </ac:spMkLst>
        </pc:spChg>
      </pc:sldChg>
      <pc:sldChg chg="modSp mod">
        <pc:chgData name="Apinan Aryuyong" userId="f779afec2317b3b7" providerId="LiveId" clId="{4245F615-ABAD-4B08-A787-3534D6902770}" dt="2026-08-17T01:06:34.686" v="24" actId="20577"/>
        <pc:sldMkLst>
          <pc:docMk/>
          <pc:sldMk cId="0" sldId="334"/>
        </pc:sldMkLst>
        <pc:spChg chg="mod">
          <ac:chgData name="Apinan Aryuyong" userId="f779afec2317b3b7" providerId="LiveId" clId="{4245F615-ABAD-4B08-A787-3534D6902770}" dt="2026-08-17T01:02:56.432" v="7" actId="1076"/>
          <ac:spMkLst>
            <pc:docMk/>
            <pc:sldMk cId="0" sldId="334"/>
            <ac:spMk id="5" creationId="{00000000-0000-0000-0000-000000000000}"/>
          </ac:spMkLst>
        </pc:spChg>
        <pc:spChg chg="mod">
          <ac:chgData name="Apinan Aryuyong" userId="f779afec2317b3b7" providerId="LiveId" clId="{4245F615-ABAD-4B08-A787-3534D6902770}" dt="2026-08-17T01:04:24.835" v="14" actId="1076"/>
          <ac:spMkLst>
            <pc:docMk/>
            <pc:sldMk cId="0" sldId="334"/>
            <ac:spMk id="6" creationId="{00000000-0000-0000-0000-000000000000}"/>
          </ac:spMkLst>
        </pc:spChg>
        <pc:spChg chg="mod">
          <ac:chgData name="Apinan Aryuyong" userId="f779afec2317b3b7" providerId="LiveId" clId="{4245F615-ABAD-4B08-A787-3534D6902770}" dt="2026-08-17T01:04:24.835" v="14" actId="1076"/>
          <ac:spMkLst>
            <pc:docMk/>
            <pc:sldMk cId="0" sldId="334"/>
            <ac:spMk id="7" creationId="{00000000-0000-0000-0000-000000000000}"/>
          </ac:spMkLst>
        </pc:spChg>
        <pc:spChg chg="mod">
          <ac:chgData name="Apinan Aryuyong" userId="f779afec2317b3b7" providerId="LiveId" clId="{4245F615-ABAD-4B08-A787-3534D6902770}" dt="2026-08-17T01:05:59.781" v="20" actId="1076"/>
          <ac:spMkLst>
            <pc:docMk/>
            <pc:sldMk cId="0" sldId="334"/>
            <ac:spMk id="8" creationId="{00000000-0000-0000-0000-000000000000}"/>
          </ac:spMkLst>
        </pc:spChg>
        <pc:spChg chg="mod">
          <ac:chgData name="Apinan Aryuyong" userId="f779afec2317b3b7" providerId="LiveId" clId="{4245F615-ABAD-4B08-A787-3534D6902770}" dt="2026-08-17T01:04:24.835" v="14" actId="1076"/>
          <ac:spMkLst>
            <pc:docMk/>
            <pc:sldMk cId="0" sldId="334"/>
            <ac:spMk id="9" creationId="{00000000-0000-0000-0000-000000000000}"/>
          </ac:spMkLst>
        </pc:spChg>
        <pc:spChg chg="mod">
          <ac:chgData name="Apinan Aryuyong" userId="f779afec2317b3b7" providerId="LiveId" clId="{4245F615-ABAD-4B08-A787-3534D6902770}" dt="2026-08-17T01:04:24.835" v="14" actId="1076"/>
          <ac:spMkLst>
            <pc:docMk/>
            <pc:sldMk cId="0" sldId="334"/>
            <ac:spMk id="10" creationId="{00000000-0000-0000-0000-000000000000}"/>
          </ac:spMkLst>
        </pc:spChg>
        <pc:spChg chg="mod">
          <ac:chgData name="Apinan Aryuyong" userId="f779afec2317b3b7" providerId="LiveId" clId="{4245F615-ABAD-4B08-A787-3534D6902770}" dt="2026-08-17T01:04:24.835" v="14" actId="1076"/>
          <ac:spMkLst>
            <pc:docMk/>
            <pc:sldMk cId="0" sldId="334"/>
            <ac:spMk id="11" creationId="{00000000-0000-0000-0000-000000000000}"/>
          </ac:spMkLst>
        </pc:spChg>
        <pc:spChg chg="mod">
          <ac:chgData name="Apinan Aryuyong" userId="f779afec2317b3b7" providerId="LiveId" clId="{4245F615-ABAD-4B08-A787-3534D6902770}" dt="2026-08-17T01:06:34.686" v="24" actId="20577"/>
          <ac:spMkLst>
            <pc:docMk/>
            <pc:sldMk cId="0" sldId="334"/>
            <ac:spMk id="12" creationId="{00000000-0000-0000-0000-000000000000}"/>
          </ac:spMkLst>
        </pc:spChg>
        <pc:spChg chg="mod">
          <ac:chgData name="Apinan Aryuyong" userId="f779afec2317b3b7" providerId="LiveId" clId="{4245F615-ABAD-4B08-A787-3534D6902770}" dt="2026-08-17T01:06:05.383" v="21" actId="1076"/>
          <ac:spMkLst>
            <pc:docMk/>
            <pc:sldMk cId="0" sldId="334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A7C8C6-E242-41DE-ABDD-28FA41E71434}" type="datetimeFigureOut">
              <a:rPr lang="th-TH" smtClean="0"/>
              <a:t>17/08/69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F2E1E9-6A73-47E6-8DEE-89B892E1A3C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87721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ลำดับการนำเสนอเป็นแบบนี้ค่ะ เริ่มจากปัญหา แล้วส่วนที่สองคือผังกระบวนการทำงานทั้งหมดตั้งแต่ต้นจนจบ ซึ่งจะเป็นแผนที่ให้อาจารย์เห็นว่าส่วนที่เหลือแต่ละส่วนคือการขยายขั้นตอนไหน จากนั้นเป็นฝั่งแบบจำลอง ฝั่งเว็บแอป แล้วปิดด้วยข้อจำกัดกับสรุปค่ะ</a:t>
            </a:r>
          </a:p>
          <a:p>
            <a:endParaRPr/>
          </a:p>
          <a:p>
            <a:r>
              <a:t>ทางกลุ่มแบ่งกันพูดสามคนตามงานที่แต่ละคนลงมือทำจริง ดิฉันเปิดสามส่วนแรก แล้วส่งต่อให้เพื่อนตามลำดับในตารางนี้ค่ะ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การฝึกเย็บแผลของนักศึกษาสัตวแพทย์ต้องมีผู้สอนคอยดูตลอดเวลาครับ ผู้สอนหนึ่งคนดูได้ทีละไม่กี่คน การประเมินจึงกลายเป็นคอขวดของการฝึก</a:t>
            </a:r>
          </a:p>
          <a:p>
            <a:r>
              <a:t>พวกเราตั้งโจทย์ว่า ถ้าคอมพิวเตอร์บอกได้ว่าในภาพมีเครื่องมืออะไร อยู่ตรงไหน ในเฟรมไหนบ้าง เราจะมีข้อมูลพื้นฐานพอที่จะไปวิเคราะห์ต่อได้ว่าผู้เรียนทำขั้นตอนถูกลำดับหรือเปล่า</a:t>
            </a:r>
          </a:p>
          <a:p>
            <a:r>
              <a:t>แต่สิ่งที่โครงงานนี้ทำคือขั้นแรกเท่านั้น คือการตรวจจับวัตถุในภาพ ส่วนการวิเคราะห์ลำดับเหตุการณ์เชิงเวลาเป็นงานระยะถัดไปที่พวกเราจะพูดถึงตอนท้ายครับ</a:t>
            </a:r>
          </a:p>
          <a:p>
            <a:endParaRPr/>
          </a:p>
          <a:p>
            <a:r>
              <a:t>ถ้าถูกถาม "ทำไมไม่ทำการวิเคราะห์ลำดับเลย": เพราะโมเดลวิเคราะห์ลำดับต้องการ input ที่บอกว่า แต่ละเฟรมมีอะไรอยู่ตรงไหนก่อน ซึ่งก็คือผลของโครงงานนี้ · และการทำสองอย่างพร้อมกันจะทำให้ ไม่รู้ว่าความผิดพลาดมาจากขั้นไหน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ภาพนี้คือหน้าตาของโจทย์ครับ นี่คือเฟรมจากชุดทดสอบที่แบบจำลองไม่เคยเห็นเลย กรอบสี่เหลี่ยมแต่ละกล่องคือวัตถุหนึ่งชิ้นที่โมเดลตรวจพบ ป้ายบนกล่องคือชนิดของวัตถุ และตัวเลขคือค่าความเชื่อมั่น จะเห็นว่าภาพนี้มีทั้ง needle wound finger และ forcep ถูกตรวจพบพร้อมกัน</a:t>
            </a:r>
          </a:p>
          <a:p>
            <a:r>
              <a:t>ทั้งหมดที่เหลือของการนำเสนอวันนี้คือการอธิบายว่าเราทำให้ภาพนี้เกิดขึ้นได้ยังไง และมันแม่นแค่ไหนครับ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วัตถุประสงค์มีสองข้อครับ ข้อแรกคือตัวแบบจำลอง ข้อที่สองคือเว็บแอปพลิเคชัน ที่อาจารย์อาจสงสัยว่าทำไมโครงงานตรวจจับวัตถุถึงต้องมีเว็บแอปด้วย — คำตอบอยู่ในส่วนถัดไปครับ คือกระบวนการทำงานจริงของงานแบบนี้ไม่ใช่เส้นตรง แต่เป็นวงจร และเว็บแอปคือเครื่องมือที่ทำให้วงจรนั้นหมุนได้</a:t>
            </a:r>
          </a:p>
          <a:p>
            <a:endParaRPr/>
          </a:p>
          <a:p>
            <a:r>
              <a:t>ฝั่งขวาคือขอบเขตครับ ข้อมูลทั้งหมดเป็นการฝึกบนแผ่นฝึกเย็บ ไม่ใช่การผ่าตัดจริง เป้าหมายมี 9 คลาส ใช้ YOLO11n ซึ่งเป็นรุ่นเล็กที่สุดของตระกูล เพราะข้อจำกัดของการ์ดจอที่มี 4 กิกะไบต์ และพวกเราฝึกบนเครื่องโน้ตบุ๊กส่วนตัวทั้งหมด ไม่ได้ใช้ Colab สองข้อล่างคือสิ่งที่พวกเราตั้งใจไม่ทำในรอบนี้ และจะอธิบายเหตุผลตอนพูดถึงงานระยะถัดไปครับ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โครงงานนี้ส่งมอบสองชิ้นครับ ตัวเลขสองตัวทางขวาคือสิ่งที่พวกเราคิดว่าเป็นหลักฐานที่แข็งแรงที่สุด ว่าเว็บแอปใช้งานได้จริง — คือมันถูกใช้ผลิตชุดข้อมูลของโครงงานนี้เองทั้งหมด สองพันเจ็ดร้อยกว่าเฟรม สองหมื่นหนึ่งพันกว่ากรอบ ไม่ใช่เครื่องมือที่สร้างไว้แล้วไม่ได้ใช้ครับ ขอเรียนว่าตัวเลขนี้เป็นยอดสะสมในระบบ ส่วนชุดข้อมูลที่ใช้ฝึกจริงเป็นอีกตัวเลขหนึ่ง จะพูดถึงในส่วนที่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โครงงานนี้ต่อจากรายงานระยะที่ 1 ครับ ตอนนั้นมี 12 วิดีโอ 120 เฟรม 5 คลาส และในรายงานระยะที่ 1 พวกเราเขียนเองว่าสิ่งที่ต้องทำต่อคือเพิ่มความหลากหลายของข้อมูล และต้องมีอินเทอร์เฟซที่คนไม่มีพื้นฐานเทคโนโลยีใช้ได้ — สองข้อนั้นกลายเป็นโจทย์ของระยะที่ 2 โดยตรง</a:t>
            </a:r>
          </a:p>
          <a:p>
            <a:r>
              <a:t>ขอเรียนไว้ก่อนเลยว่าคะแนน mAP ของสองระยะนี้เทียบกันตรง ๆ ไม่ได้ เพราะคนละชุดข้อมูล คนละจำนวนคลาส ตารางนี้ให้ดูเรื่องขอบเขตงานอย่างเดียวครับ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ขออนุญาตใช้เวลาแผ่นนี้หน่อยครับ เพราะทุกส่วนที่เหลือคือการขยายกล่องใดกล่องหนึ่งในผังนี้</a:t>
            </a:r>
          </a:p>
          <a:p>
            <a:endParaRPr/>
          </a:p>
          <a:p>
            <a:r>
              <a:t>เริ่มจากขั้นที่ 1 บันทึกวิดีโอการฝึกเย็บ · ขั้นที่ 2 สกัดเฟรมออกมาเป็นภาพนิ่ง โดยระบบคัดภาพเบลอและภาพซ้ำทิ้งเอง · ขั้นที่ 3 กำกับข้อมูล คือตีกรอบและบอกว่าแต่ละกรอบคืออะไร ขั้นที่ 4 ทำความสะอาดป้ายกำกับ ซึ่งเป็นขั้นที่พวกเราไม่ได้วางแผนไว้ตั้งแต่แรก แต่จำเป็นต้องเพิ่มเพราะเจอปัญหาที่จะเล่าในส่วนที่ 3 · ขั้นที่ 5 ส่งออกเป็นชุดข้อมูลสำหรับฝึก · ขั้นที่ 6 ฝึกแบบจำลอง · ขั้นที่ 7 ประเมินผลและวินิจฉัยว่าคลาสไหนอ่อนเพราะอะไร</a:t>
            </a:r>
          </a:p>
          <a:p>
            <a:endParaRPr/>
          </a:p>
          <a:p>
            <a:r>
              <a:t>แล้วขั้นที่ 8 กับ 9 คือหัวใจครับ — โมเดลที่ฝึกเสร็จไม่ได้จบอยู่ที่การรายงานตัวเลข แต่ถูกอัปโหลดกลับเข้าเว็บแอป แล้วเอาไปช่วยกำกับข้อมูลรอบถัดไป คนแค่มาตรวจว่าถูกหรือผิด ซึ่งเร็วกว่าการตีกรอบใหม่ทั้งหมดมาก แล้วก็วนกลับไปขั้นที่ 3 ใหม่</a:t>
            </a:r>
          </a:p>
          <a:p>
            <a:endParaRPr/>
          </a:p>
          <a:p>
            <a:r>
              <a:t>ถ้าไม่มีเว็บแอป วงจรนี้จะขาดตรงขั้นที่ 2, 3, 5, 8, 9 ซึ่งเป็นขั้นที่ใช้แรงคนมากที่สุดครับ นี่คือเหตุผลที่โครงงานนี้มีสองชิ้นงาน ไม่ใช่แค่โมเดล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ตารางนี้บอกว่าแต่ละขั้นทำด้วยอะไรครับ จะเห็นว่าเว็บแอปที่พวกเราพัฒนารับผิดชอบ 5 ขั้นจาก 9 ขั้น ส่วน Roboflow พวกเราใช้เฉพาะการกำกับรอบแรกที่ต้องทำพร้อมกันสามคน เพราะเว็บแอปของเราออกแบบมาสำหรับผู้ใช้คนเดียว — เป็นการเลือกเครื่องมือตามงาน ไม่ได้เลือกตามความนิยม รายละเอียดของเครื่องมือทุกตัวอยู่ในส่วนที่ 7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แผ่นนี้ตอบคำถามว่า "ระบบใช้ได้จริงหรือเปล่า" ครับ ชุดข้อมูลทั้งหมดของโครงงานนี้ผลิตด้วยระบบนี้เอง และที่สำคัญกว่านั้นคือวงจรหมุนครบรอบไปแล้วจริง — พวกเราใช้โมเดลรอบแรกช่วยกำกับ แล้วทีมมาตรวจและกำกับเพิ่ม แล้ว export ออกมาเป็นชุดข้อมูล รุ่นที่สอง ได้กรอบเพิ่มมาอีกประมาณหนึ่งพันห้าร้อยกรอบ ผลของการฝึกด้วยชุดที่สองอยู่ในส่วนที่ 5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ก่อนเข้าเนื้อหา ขออนุญาตปูพื้นสั้น ๆ ครับ งานด้านภาพมีหลายแบบ ที่คนคุ้นที่สุดคือการจำแนกภาพ คือถามว่าภาพนี้คือรูปอะไร ได้คำตอบเดียวต่อภาพ แต่โจทย์ของเราไม่ใช่แบบนั้น เพราะในเฟรมเดียว มีมือ มีคีมคีบ มีเข็ม มีแผล อยู่พร้อมกันหมด และเราต้องรู้ด้วยว่าแต่ละอย่างอยู่ตรงไหน — เพราะสิ่งที่จะวิเคราะห์ต่อในอนาคตคือปลายเครื่องมือสัมผัสแผลตรงไหน เมื่อไหร่ ซึ่งต้องใช้พิกัด งานแบบนี้เรียกว่า object detection ครับ ผลลัพธ์คือกรอบสี่เหลี่ยมหลายกรอบ ต่อหนึ่งภาพ แต่ละกรอบบอกชนิดของวัตถุกับค่าความเชื่อมั่น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โครงสร้างของระบบตรวจจับวัตถุแทบทุกตัวเหมือนกันครับ คือมีส่วนที่สกัดลักษณะเด่นจากภาพ เรียกว่า backbone แล้วมีส่วนที่แปลงลักษณะเด่นนั้นเป็นคำตอบ เรียกว่า head ความต่างอยู่ตรงกลางว่าจะเดาตำแหน่งที่น่าสนใจก่อนแล้วค่อยจำแนกทีละจุด ซึ่งแม่นกว่าแต่ช้ากว่า หรือจะทำนายทั้งกรอบและชนิดในครั้งเดียวไปเลย ซึ่งเร็วกว่า ตระกูลหลังนี้เรียกว่า single-shot ครับ และ YOLO ที่พวกเราใช้อยู่ในกลุ่มนี้</a:t>
            </a:r>
          </a:p>
          <a:p>
            <a:endParaRPr/>
          </a:p>
          <a:p>
            <a:r>
              <a:t>(หมายเหตุ: มี proposal เช่น R-CNN/Faster R-CNN/R-FCN เดาตำแหน่งก่อนแล้วจำแนก แม่นกว่าช้ากว่า · single-shot เช่น YOLO/SSD ทำนายกรอบและชนิดในครั้งเดียว เร็วกว่า)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พวกเราพิจารณาตระกูลหลัก ๆ ตามตารางนี้ครับ ตระกูล R-CNN แม่นที่สุดแต่ช้าที่สุด เพราะต้องเดาตำแหน่งที่น่าสนใจก่อนแล้วจำแนกทีละจุด SSD กับ YOLO เป็น single-shot ทั้งคู่ SSD แม่นกว่าเล็กน้อยแต่ช้ากว่า เกณฑ์ที่ตัดสินสำหรับโครงงานนี้ไม่ใช่ความแม่นสูงสุด แต่เป็นข้อจำกัดของเครื่องครับ</a:t>
            </a:r>
          </a:p>
          <a:p>
            <a:endParaRPr/>
          </a:p>
          <a:p>
            <a:r>
              <a:t>เหตุผลที่เลือก YOLO11n เจาะจงมีสี่ข้อ ข้อแรกและสำคัญที่สุดคือการ์ดจอของเครื่องที่ใช้ฝึกมีหน่วยความจำแค่ 4 กิกะไบต์ รุ่นที่ใหญ่กว่านี้ต้องลด batch ลงมากจนผลการทดลองเทียบกันไม่ได้ ข้อสอง แผนการติดตั้งใช้งานที่พวกเราตัดสินใจไว้คือโฮสต์แบบ CPU อย่างเดียว เพราะงานสกัดเฟรม กำกับข้อมูล และส่งออก ไม่ได้ประโยชน์จาก GPU เลย ถ้าโมเดลใหญ่เกินไป มันจะรันบน CPU ไม่ไหว ข้อสาม พวกเราต้องฝึกซ้ำหลายรอบเพื่อทำการทดลองแบบคุมตัวแปร ถ้ารอบละหลายชั่วโมงจะทำไม่ทัน และผลที่วัดจริงคือ รุ่นนี้รันบน CPU ได้ประมาณ 5 เฟรมครึ่งต่อวินาที ซึ่งพอสำหรับงานประมวลผลเป็นชุดครับ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แผ่นนี้เป็นคำศัพท์ที่จะใช้ตลอดการนำเสนอครับ ผมขอไม่ไล่อ่านทีละคำ แต่จะเปิดค้างไว้แป๊บหนึ่ง ถ้าตรงไหนไม่ชัดเจน อาจารย์ถามได้ตลอดครับ · ส่วนตัวชี้วัดอย่าง mAP50 จะมีแผ่นอธิบายแยกก่อนเข้าส่วนผลการทดลอง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สถาปัตยกรรมของ YOLO11 แบ่งเป็นสามส่วนครับ Backbone ทำหน้าที่สกัดลักษณะเด่นจากภาพ โดยลดขนาดภาพลงเรื่อย ๆ ตามชั้น Neck รวมลักษณะเด่นจากหลายความละเอียดเข้าด้วยกัน และ Head ทำนายผลออกมา — แต่ทำนายที่สามความละเอียดพร้อมกัน ชั้นที่หยาบที่สุดคือ P5 ขนาด 20 คูณ 20 ใช้จับวัตถุใหญ่ ส่วนชั้นที่ละเอียดที่สุดคือ P3 ขนาด 80 คูณ 80 ใช้จับวัตถุเล็ก ขอให้อาจารย์จำ P3 ไว้นะครับ เพราะตอนพูดถึงปัญหาของคลาส needle ในส่วนที่ 5 เราจะกลับมาที่ชั้นนี้อีกครั้ง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โมเดลที่พวกเราใช้จริงมี 182 ชั้น พารามิเตอร์ประมาณ 2.6 ล้านตัว ซึ่งถือว่าเล็กมากสำหรับงานตรวจจับวัตถุ ตัวเลขที่น่าสนใจคือตัวขวาสุดครับ — เมื่อเพิ่มความละเอียดภาพจาก 640 เป็น 960 ต้นทุนการคำนวณเพิ่มจาก 6.5 เป็น 14.8 GFLOPs คือประมาณ 2.3 เท่า นี่คือราคาที่พวกเราจ่ายไปเพื่อผลที่จะเล่าในส่วนที่ 5 ครับ</a:t>
            </a:r>
          </a:p>
          <a:p>
            <a:endParaRPr/>
          </a:p>
          <a:p>
            <a:r>
              <a:t>ตอนฝึก โมเดลวัดความผิดพลาดสามอย่างพร้อมกันครับ อย่างแรกคือกรอบที่ทำนายซ้อนทับกรอบจริงดีแค่ไหน อย่างที่สองคือทายชนิดถูกหรือเปล่า อย่างที่สามคือความแม่นของขอบกรอบในระดับละเอียด มีข้อสังเกตที่พวกเราอยากเรียนไว้ครับ คือ YOLO11 ไม่มี objectness loss ซึ่งเป็นสิ่งที่มีในรุ่น v5 กับ v7 — ถ้าอาจารย์ดูกราฟ loss ในส่วนที่ 5 แล้วเห็นแค่สามเส้น ไม่ใช่ว่าพวกเราลืมพล็อต แต่มันมีแค่สามจริง ๆ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แผ่นนี้ไม่ใช่ผลของพวกเราครับ แต่เป็นข้อจำกัดของ YOLO ที่เขียนไว้ในเอกสารตั้งแต่รุ่นแรก ข้อแรกคือกลุ่มของวัตถุขนาดเล็กจับได้ยาก ข้อสองคือวัตถุที่มีสัดส่วนยาวเรียวผิดปกติ และข้อสามคือ localization error ที่ปฏิบัติกับกล่องเล็กและกล่องใหญ่เท่ากัน พวกเราขอเรียนตรงนี้ก่อนเลยว่าเข็มเย็บแผลตรงกับทั้งสามข้อพอดี — มันเล็ก มันยาวเรียว และในภาพฝึกจริงมักมีหลายชิ้นอยู่ใกล้กัน เพราะฉะนั้นผลที่พวกเราจะรายงานในส่วนที่ 5 ว่าคลาส needle อ่อนที่สุด ไม่ใช่เรื่องน่าประหลาดใจ สิ่งที่พวกเราทำเพิ่มคือ ไม่ได้หยุดแค่ "มันเป็นข้อจำกัดของ YOLO" แต่ไปวัดว่าในชุดข้อมูลของเรามันเล็กแค่ไหนจริง ๆ แล้วทดลองแก้ครับ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ตอนใช้งานจริง การกรองผลเกิดสองชั้นครับ ชั้นแรกเป็นของไลบรารี ultralytics เอง ใช้เกณฑ์ต่ำสุดร่วมกันทุกคลาส แล้วตัดกรอบที่ซ้อนกันออก ชั้นที่สองเป็นโค้ดที่พวกเราเขียนเอง กรองแยกรายคลาสได้ เหตุผลคือคลาสอย่าง needle มีค่าความเชื่อมั่นต่ำโดยธรรมชาติเพราะมันเล็ก ถ้าเราลดเกณฑ์รวมลงเพื่อให้ needle ผ่าน คลาสอื่นจะมีผลผิดท่วมขึ้นมาด้วย การแยกเกณฑ์รายคลาสจึงเป็นทางออกครับ ค่าที่ตั้งไว้เป็นค่าเริ่มต้นในเว็บแอปคือ 0.25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ขั้นแรกของการทำชุดข้อมูลคือเปลี่ยนวิดีโอเป็นภาพนิ่งครับ ถ้าสุ่มเฟรมมาเฉย ๆ จะได้ภาพเบลอเยอะมาก เพราะมือกำลังเคลื่อนไหว และจะได้ภาพที่แทบเหมือนกันเยอะมาก เพราะเฟรมติดกันในวิดีโอต่างกันนิดเดียว ระบบของพวกเราจึงแบ่งวิดีโอเป็นช่วงเวลาก่อน แล้วเลือกเฟรมที่ดีที่สุดของแต่ละช่วง โดยมีสองด่าน — ด่านแรกวัดความคมด้วยค่าความแปรปรวนของ Laplacian ถ้าเบลอเกินเกณฑ์ก็ตัดทิ้ง ด่านที่สองเทียบกับภาพที่เก็บไว้แล้วว่าซ้ำไหม จุดที่พวกเราออกแบบไว้โดยตั้งใจคือ ถ้าเฟรมไม่ผ่าน ระบบไม่ทิ้งทั้งช่วงเวลานั้น แต่ย้อนกลับไปลองเฟรมถัดไปในช่วงเดิม ได้สูงสุด 5 ครั้ง ถึงจะข้ามทั้งช่วง ถ้าไม่ทำแบบนี้ ช่วงที่มือขยับเยอะซึ่งมักเป็นช่วงที่น่าสนใจที่สุด จะหายไปหมดครับ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คลาสทั้ง 9 แบ่งได้เป็นสามกลุ่มครับ กลุ่มเครื่องมือ กลุ่มมือ และแผล สิ่งที่พวกเราเพิ่มในระยะที่ 2 และอยากเรียนให้อาจารย์เห็นเหตุผลคือสองคลาสท้าย คือ Tip_needle_holder กับ Tip_forcep ซึ่งเป็น "ปลาย" ของเครื่องมือ แยกจากตัวเครื่องมือทั้งชิ้น เหตุผลคือเป้าหมายปลายทางของงานนี้คือการวิเคราะห์ว่าผู้เรียนทำขั้นตอนถูกไหม ซึ่งสิ่งที่บอกได้คือปลายเครื่องมือสัมผัสแผลตรงไหน ไม่ใช่ตัวด้ามจับ ถ้ามีแค่กรอบของเครื่องมือทั้งชิ้น เราจะบอกไม่ได้ว่าปลายอยู่ตรงไหนครับ</a:t>
            </a:r>
          </a:p>
          <a:p>
            <a:endParaRPr/>
          </a:p>
          <a:p>
            <a:r>
              <a:t>ถ้าถูกถาม "การเพิ่มคลาสทำให้คะแนนแย่ลงไหม": เทียบตรง ๆ ไม่ได้ เพราะรอบ 5 คลาสใช้คนละชุดข้อมูล และชุด val/test ของรอบนั้นไม่มีอยู่บนดิสก์แล้ว · แต่ในเชิงงาน คลาส Tip_* ทำคะแนนได้สูงติดอันดับต้น (0.8662 และ 0.7765) ไม่ได้เป็นภาระของโมเดล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ขออนุญาตชี้แจงเรื่องหนึ่งไว้ก่อน เพื่อไม่ให้อาจารย์สับสนตอนเห็นตัวเลขในส่วนที่ 5 ครับ ชุดข้อมูลของโครงงานนี้มีสองรุ่น รุ่นแรก 2,190 ภาพ เป็นชุดที่ใช้ฝึกแบบจำลองรุ่นแรก รุ่นที่สองคือชุดที่ทีมกลับไปกำกับเพิ่ม ได้ 2,489 ภาพ กรอบเพิ่มขึ้นประมาณหนึ่งพันห้าร้อยกรอบ ซึ่งก็คือหลักฐานว่าวงจรที่พวกเราพูดถึงในส่วน W หมุนครบรอบจริง และเป็นชุดที่ใช้ฝึกโมเดลหลักที่ทีมเลือกใช้และจะรายงานผลตั้งแต่แผ่น 5-5 เป็นต้นไป ข้อควรระวังคือสองรุ่นนี้แบ่งชุดตรวจสอบคนละครั้ง ตัวเลขจึงเทียบกันตรง ๆ ไม่ได้ พวกเราจะย้ำอีกครั้งตอนถึงแผ่นนั้นครับ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ชุดข้อมูลของพวกเราไม่สมดุลอย่างรุนแรงครับ คลาส finger มีเกือบหมื่นกรอบ ขณะที่ Stitch Scissors หรือกรรไกรตัดไหม มีแค่ 29 กรอบทั้งชุด แยกเป็นชุดฝึก 16 กรอบ ชุดตรวจสอบ 10 กรอบ ชุดทดสอบ 3 กรอบ พวกเราขอเรียนตรง ๆ ตั้งแต่ตอนนี้เลยว่าคะแนนของคลาสนี้เชื่อถือไม่ได้ มันแกว่งระหว่าง 0.43 ถึง 0.99 ข้ามรอบการทดลอง โดยที่ไม่มีอะไรเปลี่ยนจริง และในโมเดลที่ดีที่สุดมันได้คะแนนสูงกว่าค่าเฉลี่ย แปลว่ามันดันเลขรวมของเราขึ้น เพราะฉะนั้นทุกครั้งที่พวกเรารายงานค่าเฉลี่ยรวม จะมีหมายเหตุกำกับว่าถ้าตัดคลาสนี้ออกจะเหลือเท่าไรครับ สาเหตุที่ยังเก็บไว้คือมันเป็นอุปกรณ์ที่มีจริงในการฝึก ถ้าตัดออกจากชุดข้อมูล โมเดลจะไม่รู้จักมันเลยเมื่อเจอในภาพจริง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แผ่นนี้เป็นเรื่องที่พวกเราคิดว่าสำคัญที่สุดเรื่องหนึ่งของโครงงานครับ ตอนที่ export ชุดข้อมูลออกมาเตรียมฝึก ไฟล์ป้ายกำกับมีสองรูปแบบปนกันอยู่ บางบรรทัดเป็นกรอบสี่เหลี่ยมซึ่งมีตัวเลข 4 ตัว บางบรรทัดเป็นรูปหลายเหลี่ยมซึ่งมีตัวเลขเป็นสิบตัว ปัญหาคือมันเงียบสนิทครับ — ไม่มี error ไม่มี warning ไฟล์เปิดได้ปกติ โปรแกรมฝึกก็รับไฟล์ไปโดยไม่บ่นอะไร แต่มันอ่านตัวเลขสี่ตัวแรกของบรรทัด polygon เป็นพิกัดกรอบ ซึ่งผิดตำแหน่งทั้งหมด พวกเราตรวจเจอ 8,047 กรอบที่ผิด จาก 623 ไฟล์ ในทั้งหมด 2,190 ไฟล์ คือประมาณหนึ่งในสี่ของไฟล์ทั้งหมด ถ้าไม่เจอ โมเดลจะถูกฝึกด้วยตำแหน่งผิดเป็นพันกรอบ แล้วพวกเราจะไม่มีทางรู้ว่าทำไมผลไม่ดี ที่สำคัญคือพวกเราตรวจเจอก่อนการฝึกรอบที่รายงานวันนี้ ผลทั้งหมดในส่วนที่ 5 จึงไม่ได้รับผลกระทบครับ</a:t>
            </a:r>
          </a:p>
          <a:p>
            <a:endParaRPr/>
          </a:p>
          <a:p>
            <a:r>
              <a:t>ถ้าถูกถาม "เจอได้ยังไง": ตอนเขียนสคริปต์นับสถิติชุดข้อมูล พบว่าจำนวนตัวเลขต่อบรรทัดไม่เท่ากัน จึงไล่ตรวจย้อน · บทเรียนคือข้อบกพร่องที่อันตรายที่สุดคือข้อบกพร่องที่ไม่ส่งเสียง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นี่คือผังของสคริปต์ที่พวกเราเขียนแก้ปัญหาในแผ่นที่แล้วครับ หลักการออกแบบมีข้อเดียวคือ ทุกทางออกต้องถูกนับ ถ้าบรรทัดไหนรูปแบบไม่รู้จัก สคริปต์จะไม่ข้ามมันเงียบ ๆ แต่จะบันทึกไว้แล้วรายงานตอนจบ เหตุผลคือปัญหาเดิมเกิดจากความเงียบ ถ้าเครื่องมือที่มาแก้ก็เงียบอีก เราจะไม่รู้ว่ามันแก้ได้จริงไหมครับ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ตอนฝึกจบ ultralytics เก็บไฟล์น้ำหนักให้สองไฟล์ครับ last.pt คือรอบสุดท้าย ส่วน best.pt คือรอบที่ดีที่สุด แต่คำว่า "ดีที่สุด" ในที่นี้ไม่ได้วัดจากคะแนนตัวเดียว มันวัดจากค่า fitness ซึ่งเป็นคะแนนผสมสองตัว โดยให้น้ำหนักตัวที่วัดความแม่นของตำแหน่งกรอบถึง 90 เปอร์เซ็นต์ — สองตัวนี้พวกเราจะอธิบายละเอียดในแผ่นแรกของส่วนถัดไปครับ ผลก็คือรอบที่ mAP50 สูงที่สุด กับรอบที่ถูกเก็บเป็น best.pt เป็นคนละรอบกัน ในรอบ 960 ของพวกเรา สองค่านี้ห่างกันถึง 53 รอบ เพราะฉะนั้นพวกเราจึงเขียนสคริปต์ให้โหลด best.pt มาวัดใหม่ทั้งหมด แล้วรายงานจากตัวเลขนั้น ไม่ใช้ตัวเลขที่ขึ้นในหน้าจอตอนฝึกครับ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ค่าที่ใช้ฝึกอยู่ทางซ้ายครับ สิ่งที่พวกเราอยากเน้นคือค่าที่พวกเราปรับเองมีไม่กี่ตัว คือจำนวนรอบ ขนาดภาพ batch และ seed ที่เหลือเป็นค่าเริ่มต้นของ Ultralytics ทั้งหมด เหตุผลคือถ้าพวกเราจูนค่าหลายตัวพร้อมกัน จะสรุปไม่ได้ว่าผลที่ดีขึ้นมาจากอะไร ทางขวาเป็นฮาร์ดแวร์ครับ การ์ดจอ 4 กิกะไบต์ รอบ 960 ใช้เวลาประมาณหนึ่งชั่วโมงสามสิบแปดนาที ค่า workers=0 ที่เห็นไม่ใช่ค่าเริ่มต้น พวกเราตั้งเองเพราะเคยชนขีดจำกัดหน่วยความจำเสมือนของ Windows แล้วการฝึกล้มกลางคัน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พวกเราออกแบบการทดลองแบบ A/B ครับ หลักการมีข้อเดียวคือ ระหว่างสองแขนของการทดลอง ต้องมีตัวแปรที่ต่างกันเพียงตัวเดียว พวกเราจึงล็อกทุกอย่างให้เท่ากัน — ชุดข้อมูลเดียวกัน เริ่มจากน้ำหนักตั้งต้นตัวเดียวกัน จำนวนรอบเท่ากัน batch เท่ากัน ขนาดภาพเท่ากัน และที่สำคัญคือ seed เท่ากัน ซึ่งหมายความว่าการสุ่มทั้งหมดในการฝึกจะเหมือนกันทุกประการ เหลือความต่างข้อเดียวคือเปิดหรือปิด augmentation ถ้าผลออกมาต่างกัน เราจึงบอกได้ว่ามันมาจากตัวแปรนั้นจริง ๆ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แผ่นนี้พวกเราตั้งใจใส่ไว้ครับ เพราะคิดว่าปัญหาที่เจอระหว่างทางบอกอะไรได้มากกว่าผลสุดท้าย</a:t>
            </a:r>
          </a:p>
          <a:p>
            <a:endParaRPr/>
          </a:p>
          <a:p>
            <a:r>
              <a:t>เรื่องแรก การฝึกรอบ 960 ถูกขัดจังหวะที่รอบที่ 115 จาก 150 พวกเราสั่งให้ฝึกต่อจากไฟล์น้ำหนักของตัวมันเอง ซึ่ง ultralytics จะอ่านค่าการตั้งค่าทั้งหมดกลับมาจาก checkpoint เอง ผลจึงยังเป็นการฝึก 150 รอบชุดเดียวกัน ไม่ใช่การเริ่มจากโมเดลคนละตัว ที่เรียนไว้เพราะในตารางไฮเปอร์พารามิเตอร์ อาจารย์จะเห็นว่าแถว model ของรอบนี้เป็น path ของ last.pt ไม่เหมือนอีกสามรอบ</a:t>
            </a:r>
          </a:p>
          <a:p>
            <a:endParaRPr/>
          </a:p>
          <a:p>
            <a:r>
              <a:t>เรื่องที่สองเป็นเรื่องที่พวกเราภูมิใจที่สุด คือพวกเราเคยสรุปจากการอ่านโค้ดว่าเว็บแอปเสิร์ฟโมเดล 960 ที่ความละเอียด 640 ซึ่งจะทำให้เสียประโยชน์ของความละเอียดไป แล้วเขียนลงเอกสารไปแล้ว ต่อมาพวกเราไปวัดจริง 30 เฟรม แล้วพบว่าข้อสรุปนั้นผิด ไลบรารีใช้ค่าของ checkpoint เองอยู่แล้ว พวกเราจึงกลับไปแก้เอกสารย้อนหลังทุกที่พร้อมระบุวันที่แก้ครับ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ก่อนดูตัวเลข ขออนุญาตอธิบายตัวชี้วัดสักครู่ครับ</a:t>
            </a:r>
          </a:p>
          <a:p>
            <a:endParaRPr/>
          </a:p>
          <a:p>
            <a:r>
              <a:t>เริ่มจาก IoU คือการวัดว่ากรอบที่โมเดลทำนายซ้อนทับกรอบที่คนตีไว้กี่เปอร์เซ็นต์ ถ้า IoU เกินเกณฑ์ที่ตั้งไว้ ถือว่าทำนายถูก</a:t>
            </a:r>
          </a:p>
          <a:p>
            <a:endParaRPr/>
          </a:p>
          <a:p>
            <a:r>
              <a:t>precision กับ recall เป็นคู่กันครับ precision ถามว่าในสิ่งที่โมเดลบอกว่าเจอ ถูกกี่เปอร์เซ็นต์ ส่วน recall ถามกลับด้าน คือในของที่มีอยู่จริง โมเดลเจอกี่เปอร์เซ็นต์ สองค่านี้มักแลกกัน ถ้าอยากเจอเยอะก็จะผิดเยอะขึ้น</a:t>
            </a:r>
          </a:p>
          <a:p>
            <a:endParaRPr/>
          </a:p>
          <a:p>
            <a:r>
              <a:t>mAP50 คือค่าเฉลี่ยความแม่นเมื่อใช้เกณฑ์ IoU ที่ 0.5 ซึ่งค่อนข้างผ่อนปรน — กรอบถูกคร่าว ๆ ก็ผ่านแล้ว นี่คือเลขหัวข่าวที่คนมักอ้างถึง</a:t>
            </a:r>
          </a:p>
          <a:p>
            <a:endParaRPr/>
          </a:p>
          <a:p>
            <a:r>
              <a:t>ส่วน mAP50-95 เข้มกว่ามาก เพราะเฉลี่ยตั้งแต่เกณฑ์ 0.5 ไปจนถึง 0.95 มันจึงวัดคุณภาพของการวางตำแหน่งกรอบ ไม่ใช่แค่ว่าเจอหรือไม่เจอ</a:t>
            </a:r>
          </a:p>
          <a:p>
            <a:endParaRPr/>
          </a:p>
          <a:p>
            <a:r>
              <a:t>สรุปสั้น ๆ คือ mAP50 บอกว่า "เจอไหม" ส่วน mAP50-95 บอกว่า "กรอบตรงแค่ไหน" และในงานนี้ สองค่านี้ขยับไม่พร้อมกัน ซึ่งเป็นประเด็นสำคัญที่จะเล่าในอีกไม่กี่แผ่นครับ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ผลการทดลอง A/B ครับ แขนซ้ายปิด augmentation แขนขวาเปิด ต่างกันแค่ตัวแปรนี้ตัวเดียว mAP50 ขึ้นจาก 0.57 เป็น 0.66 mAP50-95 ขึ้นจาก 0.32 เป็น 0.40 และ recall ขึ้นเยอะที่สุด จาก 0.54 เป็น 0.66 มีแค่ precision ที่ลดลงนิดเดียว ซึ่งเป็นเรื่องปกติเมื่อ recall เพิ่ม</a:t>
            </a:r>
          </a:p>
          <a:p>
            <a:endParaRPr/>
          </a:p>
          <a:p>
            <a:r>
              <a:t>สิ่งที่พวกเราอยากเรียนคือประโยคข้างล่างครับ — ผลนี้ค้านสมมติฐานที่พวกเราตั้งไว้เอง ก่อนทดลอง พวกเรากังวลว่า mosaic augmentation ซึ่งเป็นการเอาสี่ภาพมาต่อกันแล้วย่อ จะทำให้วัตถุเล็กอย่างเข็มยิ่งเล็กลงไปอีก และน่าจะทำให้ผลแย่ลง แต่พอวัดจริง ทุกคลาสดีขึ้นหมด ไม่มีคลาสไหนแย่ลงเลย พวกเราจึงเดินหน้าใช้ augmentation ในทุกรอบต่อมา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กราฟนี้คือหลักฐานว่าทำไม augmentation ถึงสำคัญกับชุดข้อมูลเล็กครับ แกนนอนคือรอบการฝึก แกนตั้งคือคะแนนบนชุดตรวจสอบ เส้นของแขนที่ปิด augmentation ขึ้นถึงจุดสูงสุดตั้งแต่รอบที่ 10 จาก 50 แล้วก็ลงเรื่อย ๆ อีก 40 รอบ นั่นคืออาการ overfitting ชัดเจน — โมเดลเริ่มจำภาพฝึกแทนที่จะเรียนรู้ลักษณะทั่วไป ส่วนเส้นของแขนที่เปิด augmentation ยังขึ้นอยู่จนถึงรอบสุดท้าย ซึ่งแปลว่าถ้าฝึกต่อน่าจะดีขึ้นอีก — และนั่นคือเหตุผลที่พวกเราตัดสินใจฝึกยาว 150 รอบในรอบถัดไปครับ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ตารางนี้คือการเทียบทั้งสี่รอบครับ สองแถวบนคือการทดลอง A/B ที่เพิ่งเล่าไป แถวที่สามคือฝึกยาว 150 รอบที่ความละเอียด 640 และแถวล่างคือฝึก 150 รอบที่ความละเอียด 960</a:t>
            </a:r>
          </a:p>
          <a:p>
            <a:endParaRPr/>
          </a:p>
          <a:p>
            <a:r>
              <a:t>พวกเราขอชี้ประเด็นที่สำคัญที่สุดของตารางนี้เองเลยครับ — การเพิ่มความละเอียดจาก 640 เป็น 960 ไม่ได้ทำให้คะแนนรวมดีขึ้น 0.7163 กับ 0.7160 คือแทบเท่ากัน ต่างกันในหลักหมื่น ซึ่งไม่มีนัยสำคัญ</a:t>
            </a:r>
          </a:p>
          <a:p>
            <a:endParaRPr/>
          </a:p>
          <a:p>
            <a:r>
              <a:t>ถ้าพวกเราเขียนสไลด์ว่า "เพิ่มความละเอียดแล้วคะแนนดีขึ้น" นั่นจะไม่ตรงกับข้อมูล สิ่งที่ 960 ได้เพิ่มจริง ๆ มีสองอย่าง อย่างแรกคือ mAP50-95 ขึ้นจาก 0.4366 เป็น 0.4532 ซึ่งแปลว่ากรอบวางตำแหน่งได้แม่นขึ้น อย่างที่สองคือ recall ของคลาส needle ซึ่งเป็นเป้าหมายที่พวกเราตั้งไว้ตั้งแต่ต้น จะเล่าละเอียดในอีกไม่กี่แผ่น</a:t>
            </a:r>
          </a:p>
          <a:p>
            <a:endParaRPr/>
          </a:p>
          <a:p>
            <a:r>
              <a:t>และขอย้ำหมายเหตุด้านล่างครับ ตัวเลขทุกแถวในตารางนี้รวม Stitch Scissors ที่มีแค่ 16 กรอบอยู่ด้วย ถ้าตัดคลาสนั้นออก ค่าเฉลี่ย 8 คลาสของรอบ 960 คือ 0.6990 ไม่ใช่ 0.7160 ครับ</a:t>
            </a:r>
          </a:p>
          <a:p>
            <a:endParaRPr/>
          </a:p>
          <a:p>
            <a:r>
              <a:t>ถ้าถูกถาม "งั้นทำไมยังเลือก 960": ดูสไลด์สำรอง B2 · สรุป: เลือกเพราะได้สิ่งที่ตั้งใจจะได้ (ตำแหน่งแม่นขึ้น + เห็นวัตถุเล็กมากขึ้น) ไม่ใช่เพราะเลขหัวข่าวสวยกว่า และรอบ 960 ยังใช้เวลาฝึกน้อยกว่า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กราฟนี้แยกผลออกเป็นรายคลาสครับ แต่ละคลาสมีสี่แท่งตามสี่รอบการทดลอง สิ่งที่อยากให้อาจารย์สังเกตคือ คลาสที่แท่งสุดท้ายซึ่งเป็นรอบ 960 สูงขึ้นชัด เป็นคลาสที่วัตถุมีขนาดเล็ก ส่วนคลาสที่วัตถุใหญ่อย่าง hand หรือ needle_holder แทบไม่ขยับเลย รูปแบบนี้แหละครับที่ทำให้พวกเราเชื่อว่ามันเป็นเรื่องขนาดวัตถุจริง ๆ ไม่ใช่ความบังเอิญ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นี่คือแบบจำลองที่ทีมเลือกใช้ต่อจากนี้ครับ ชื่อรุ่นคือ baseline9-reannot ฝึกด้วยชุดข้อมูลรุ่นที่สองที่ทีมกลับไปกำกับเพิ่ม ได้ mAP50 บนชุดตรวจสอบ 0.7225 บนชุดทดสอบซึ่งโมเดลไม่เคยเห็นเลยได้ 0.7212 — สองค่านี้ต่างกันแค่ 0.13 จุด ใกล้กันมาก ไม่มีสัญญาณ overfitting เลยครับ</a:t>
            </a:r>
          </a:p>
          <a:p>
            <a:endParaRPr/>
          </a:p>
          <a:p>
            <a:r>
              <a:t>ขอเรียนตรง ๆ ว่าชุดข้อมูลรุ่นนี้แบ่งชุดตรวจสอบใหม่ ต่างจากรอบ aug960 ก่อนหน้า (ที่ได้ 0.7160) พวกเราจึงไม่เอาสองตัวเลขนี้มาเทียบกันตรง ๆ ว่าตัวไหนชนะ เพราะวัดกันคนละชุดข้อมูลทางสถิติเทียบกันไม่ได้ เหตุผลจริงที่เลือกใช้ตัวนี้ต่อคือ มันฝึกจากข้อมูลที่กำกับเพิ่มแล้วและเยอะกว่าเดิม และคลาส needle ที่อ่อนที่สุดของเราดีขึ้นชัดเจนบนชุดของตัวเอง ซึ่งจะเล่าในแผ่นถัดไปครับ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ตารางรายคลาสของ baseline9-reannot ครับ เรียงจากคะแนนสูงไปต่ำ คลาสที่ทำได้ดีที่สุดคือ Tip_needle_holder ที่ 0.82 ซึ่งเป็นคลาสที่พวกเราเพิ่มเข้ามาเองในระยะที่ 2</a:t>
            </a:r>
          </a:p>
          <a:p>
            <a:endParaRPr/>
          </a:p>
          <a:p>
            <a:r>
              <a:t>สองแถวที่ทำเครื่องหมายไว้คือแถวที่ต้องพูดถึงครับ แถว Stitch Scissors ได้คะแนนสูงถึง 0.97 แต่มีแค่ 6 กรอบในชุดตรวจสอบ ตัวเลขนี้เชื่อไม่ได้เหมือนเดิม ส่วนแถวล่างสุดคือ needle ซึ่งได้ 0.39 ต่ำกว่าคลาสอื่นมาก แต่ดีขึ้นจากรอบก่อนหน้า (0.36) และค่า recall ที่ 0.4229 แปลว่าในเข็ม 100 อันที่มีอยู่จริง โมเดลเจอแล้ว 42 อัน ขึ้นจาก 36 อันในรอบก่อน คลาสนี้คือหัวข้อของอีกสามแผ่นถัดไป เพราะพวกเราใช้เวลากับมันมากที่สุดครับ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สองภาพนี้คือเมทริกซ์ความสับสนของ baseline9-reannot ครับ ซ้ายเป็นแบบสัดส่วน ขวาเป็นจำนวนจริง</a:t>
            </a:r>
          </a:p>
          <a:p>
            <a:endParaRPr/>
          </a:p>
          <a:p>
            <a:r>
              <a:t>วิธีอ่านภาพซ้ายก่อนนะครับ แกนนอนคือคลาสที่เป็นจริง แกนตั้งคือคลาสที่โมเดลทำนาย ตัวเลขในแต่ละช่องคือสัดส่วนเทียบกับคลาสจริงคอลัมน์นั้น ถ้าโมเดลสมบูรณ์แบบ เลข 1.00 จะเรียงอยู่บนเส้นทแยงมุมทั้งหมด</a:t>
            </a:r>
          </a:p>
          <a:p>
            <a:endParaRPr/>
          </a:p>
          <a:p>
            <a:r>
              <a:t>ทีนี้ดูคอลัมน์ของ needle ครับ ค่าที่หลุดออกจากเส้นทแยงมุมส่วนใหญ่ไม่ได้ไปตกที่คลาสอื่น แต่ไปตกที่แถว background คือ "พื้นหลัง" — 0.35 เทียบกับที่หลุดไปคลาสอื่นรวมกันแค่ 0.10 นี่คือข้อมูลที่สำคัญมาก เพราะมันบอกว่าโมเดลไม่ได้สับสนว่าเข็มคือคีมคีบ แต่มันมองไม่เห็นเข็มตั้งแต่แรก สองอย่างนี้ต้องแก้คนละวิธีกันครับ ถ้าเป็นปัญหาจำแนกผิด ทางแก้คือเพิ่มข้อมูลหรือปรับ loss แต่ถ้าเป็นปัญหามองไม่เห็น ทางแก้คือเรื่องความละเอียดของภาพ ซึ่งสอดคล้องกับข้อสรุปเดิมในรอบก่อนหน้า</a:t>
            </a:r>
          </a:p>
          <a:p>
            <a:endParaRPr/>
          </a:p>
          <a:p>
            <a:r>
              <a:t>ภาพขวาเป็นเมทริกซ์เดียวกันแต่เป็นจำนวนจริง ไม่ได้ทำให้เป็นสัดส่วน — ใส่ไว้เพราะเมทริกซ์แบบสัดส่วนทำให้คลาสที่มีตัวอย่างน้อยดูมีน้ำหนักเท่ากับคลาสที่มีเยอะ ซึ่งจะทำให้อ่านผิดได้ครับ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สองกราฟนี้เป็นกราฟที่พวกเราใช้ตัดสินใจจริงครับ</a:t>
            </a:r>
          </a:p>
          <a:p>
            <a:endParaRPr/>
          </a:p>
          <a:p>
            <a:r>
              <a:t>ซ้ายคือกราฟ precision-recall แกนนอนคือ recall แกนตั้งคือ precision เส้นที่โค้งไปทางมุมขวาบนแปลว่าโมเดลทั้งเจอเยอะและถูกเยอะพร้อมกัน พื้นที่ใต้เส้นแต่ละเส้นคือค่า AP ของคลาสนั้น ซึ่งเฉลี่ยกันแล้วได้เป็น mAP เส้นที่อยู่ล่างสุดอย่างชัดเจนคือ needle ซึ่งสอดคล้องกับตารางรายคลาสที่เพิ่งดูไปครับ</a:t>
            </a:r>
          </a:p>
          <a:p>
            <a:endParaRPr/>
          </a:p>
          <a:p>
            <a:r>
              <a:t>ขวาคือกราฟ F1 ต่อค่าความเชื่อมั่น แกนนอนคือเกณฑ์ค่าความเชื่อมั่นที่เรายอมรับผล ถ้าตั้งสูงมาก โมเดลจะรายงานเฉพาะที่มั่นใจสุด ๆ ซึ่งแม่นแต่พลาดของจริงไปเยอะ ถ้าตั้งต่ำมาก จะเจอเยอะแต่มีผลผิดปนมาเยอะ จุดที่ F1 สูงที่สุดคือจุดสมดุล ค่าที่พวกเราตั้งเป็นค่าเริ่มต้นในเว็บแอปคือ 0.25 ครับ ซึ่งยังอยู่ใกล้จุดสมดุลของกราฟนี้ ไม่ได้ตั้งขึ้นมาลอย ๆ และเว็บแอปยังให้ผู้ใช้ปรับเกณฑ์รายคลาสได้ด้วย เพราะคลาสอย่าง needle เหมาะกับเกณฑ์ที่ต่ำกว่าคลาสอื่นตามที่เล่าไปในส่วนที่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สองกราฟนี้เป็นข้อมูลประกอบครับ ซ้ายคือ loss สามตัวที่พูดถึงในส่วนที่ 2 ทั้งสามเส้นลดลงต่อเนื่องจนจบการฝึก ไม่มีเส้นไหนที่ลดแล้วกลับขึ้น ซึ่งเป็นสัญญาณว่าการฝึก 150 รอบไม่ได้นานเกินไป ขวาคือตารางการลดอัตราการเรียนรู้ ซึ่งเป็นค่าเริ่มต้นของ Ultralytics พวกเราไม่ได้ปรับ เหมือนกันทุกรอบการทดลอง ไม่ว่าจะฝึกจากชุดข้อมูลไหน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กราฟนี้ต่างจากรอบ aug960 ก่อนหน้าที่เล่าไปครับ — รอบนั้นคะแนนยังไต่ขึ้นช้า ๆ จนจบ 150 รอบ แต่รอบนี้ mAP ขึ้นเร็วในช่วงแรกแล้วนิ่งเป็นเส้นราบตั้งแต่ราวรอบ 60-70 จุดที่ Ultralytics เลือกเป็น best.pt ด้วยค่า fitness สูงสุดคือรอบที่ 100 จาก 150 ไม่ใช่รอบสุดท้าย พวกเรายังฝึกให้ครบ 150 รอบเพื่อความชัวร์ว่าไม่มีจุดที่ดีกว่านี้อยู่ข้างหน้าอีก แต่ในทางปฏิบัติโมเดลนิ่งไปแล้วตั้งแต่ก่อนถึงรอบที่ 100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พวกเราคิดว่าการแสดงเฉพาะตัวเลขไม่พอครับ จึงดึงภาพที่โมเดลทำผิดออกมาดูด้วยตาจริง ๆ แถวบนคือภาพที่โมเดลทำถูกทั้งหมด ไม่มีกรอบเกิน ไม่มีกรอบขาด แถวล่างคือภาพที่แย่ที่สุด 4 ภาพ — จะเห็นว่าทั้งสี่ภาพเป็นฉากที่มือหลายนิ้วซ้อนทับกันแน่นมาก ทำให้มีทั้งกรอบเกิน (FP) และกรอบขาด (FN) พร้อมกันเยอะ ส่วนใหญ่เป็นกรอบ finger ที่ซ้อนกัน จนโมเดลแยกไม่ออกว่านิ้วไหนเป็นนิ้วไหน ไม่ใช่ปัญหาของ needle ล้วน ๆ ในภาพชุดนี้ สอดคล้องกับที่ confusion matrix บอกไว้แค่บางส่วน — needle ยังมีปัญหามองไม่เห็นอยู่จริง แต่ในภาพตัวอย่างที่แย่ที่สุดของรอบนี้ ความหนาแน่นของนิ้วมือคือปัจจัยที่เห็นชัดกว่าครับ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มาถึงส่วนที่พวกเราใช้เวลามากที่สุดครับ หลังจากรู้ว่า needle เป็นปัญหา "มองไม่เห็น" คำถามต่อไปคือมันเล็กแค่ไหนจริง ๆ พวกเราเขียนสคริปต์อ่านไฟล์ป้ายกำกับทุกไฟล์ แล้ววัดขนาดกรอบของทุกคลาสออกมา สคริปต์นี้ไม่โหลดโมเดล ไม่ใช้ GPU อ่านไฟล์ข้อความอย่างเดียว</a:t>
            </a:r>
          </a:p>
          <a:p>
            <a:endParaRPr/>
          </a:p>
          <a:p>
            <a:r>
              <a:t>ผลคือตัวเลขบนจอครับ 80.9 เปอร์เซ็นต์ของกรอบ needle เล็กกว่าเกณฑ์ที่ COCO เรียกว่าวัตถุขนาดเล็ก ซึ่งคือพื้นที่ต่ำกว่า 32 คูณ 32 พิกเซล และด้านสั้นของเข็มโดยเฉลี่ยคือ 12.4 พิกเซล ที่ความละเอียดภาพ 640 เทียบกับคีมจับเข็มที่ 112 พิกเซล และมือที่ 129 พิกเซล คือต่างกันเกือบสิบเท่า</a:t>
            </a:r>
          </a:p>
          <a:p>
            <a:endParaRPr/>
          </a:p>
          <a:p>
            <a:r>
              <a:t>จุดสำคัญของแผ่นนี้ไม่ใช่ตัวเลข แต่คือลำดับครับ — พวกเราวัดก่อน แล้วค่อยแก้ ไม่ได้เดาว่ามันเล็กแล้วลองเพิ่มความละเอียดดู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พอวัดได้แล้ว พวกเราตั้งสมมติฐานครับ</a:t>
            </a:r>
          </a:p>
          <a:p>
            <a:endParaRPr/>
          </a:p>
          <a:p>
            <a:r>
              <a:t>สมมติฐานคือ ถ้าปัญหาของ needle เป็นเรื่องขนาดจริง การเพิ่มความละเอียดของภาพตอนฝึกต้องช่วย และต้องช่วยคลาสที่วัตถุเล็กมากกว่าคลาสที่วัตถุใหญ่ ข้อหลังนี้สำคัญมาก เพราะมันคือสิ่งที่แยก "คำอธิบาย" ออกจาก "ความบังเอิญ" ถ้าเพิ่มความละเอียดแล้วทุกคลาสดีขึ้นเท่า ๆ กัน แปลว่ามันไม่ได้เกี่ยวกับขนาด</a:t>
            </a:r>
          </a:p>
          <a:p>
            <a:endParaRPr/>
          </a:p>
          <a:p>
            <a:r>
              <a:t>พวกเราจึงฝึกใหม่ โดยเปลี่ยนแค่ค่าเดียว คือขนาดภาพจาก 640 เป็น 960 ทุกอย่างอื่นเท่าเดิมหมด</a:t>
            </a:r>
          </a:p>
          <a:p>
            <a:endParaRPr/>
          </a:p>
          <a:p>
            <a:r>
              <a:t>ผลคือ recall ของ needle ขึ้นจาก 0.2435 เป็น 0.3579 บนชุดตรวจสอบ และขึ้นจาก 0.2513 เป็น 0.3351 บนชุดทดสอบ คือดีขึ้นประมาณ 47 เปอร์เซ็นต์จากของเดิม ขณะที่คลาสที่มีด้านสั้นเกิน 27 พิกเซล ขยับไม่ถึง 0.02</a:t>
            </a:r>
          </a:p>
          <a:p>
            <a:endParaRPr/>
          </a:p>
          <a:p>
            <a:r>
              <a:t>และอย่างที่เรียนไว้ตอนตารางเทียบสี่รอบ — คะแนนรวมไม่ขึ้นเลย ยังอยู่ที่ 0.716 เท่าเดิม พวกเราถือว่านี่คือผลที่ตรงกับสมมติฐานที่สุด เพราะสมมติฐานไม่ได้บอกว่าคะแนนรวมจะขึ้น มันบอกว่าคลาสเล็กจะดีขึ้นและคลาสใหญ่จะไม่ขยับ ซึ่งเกิดขึ้นจริงทั้งสองข้อครับ</a:t>
            </a:r>
          </a:p>
          <a:p>
            <a:endParaRPr/>
          </a:p>
          <a:p>
            <a:r>
              <a:t>ถ้าถูกถาม "ทำไมไม่ขึ้นไป 1280 เลย": ต้นทุนการคำนวณโตตามกำลังสอง (6.5 → 14.8 GFLOPs แค่จาก 640 ไป 960) · VRAM 4 GB รับไม่ไหวที่ batch เท่าเดิม และเวลาฝึกจะเกินที่มี · เป็นงานระยะถัดไปที่ระบุไว้แล้ว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กลับมาที่วงจรในส่วน W ครับ — นี่คือรอบที่สองของวงจรนั้นที่เกิดขึ้นจริง หลังจากได้โมเดลรอบแรก พวกเราเอามันกลับเข้าเว็บแอปแล้วใช้ช่วยกำกับข้อมูล ทีมมาตรวจและกำกับเพิ่ม แล้ว export ออกมาเป็นชุดข้อมูลรุ่นที่สอง ได้กรอบเพิ่มมา 1,464 กรอบ และภาพเพิ่ม 299 ภาพ ที่น่าสนใจคือคลาสที่ได้กรอบเพิ่มมากที่สุดเป็นคลาสที่ทีมรู้ตัวว่ากำกับตกไปในรอบแรก เช่น wound กับ needle_holder ส่วน Stitch Scissors เพิ่มได้แค่ 7 กรอบ เพราะในวิดีโอมันปรากฏน้อยจริง ๆ ไม่ใช่เพราะกำกับตก และขอเรียนว่า needle ยังเล็กเท่าเดิม — 81.5 เปอร์เซ็นต์ยังต่ำกว่าเกณฑ์ small การกำกับเพิ่มไม่ได้ทำให้วัตถุใหญ่ขึ้น มันแค่ให้ตัวอย่างมากขึ้นครับ โมเดลที่เห็นผลไปแล้วในแผ่นก่อนหน้าคือโมเดลที่ฝึกจากชุดข้อมูลรุ่นนี้เองครับ</a:t>
            </a:r>
          </a:p>
          <a:p>
            <a:endParaRPr/>
          </a:p>
          <a:p>
            <a:r>
              <a:t>ถ้าถูกถาม "ทำไมเวลาฝึกรอบนี้ 329 นาที นานกว่ารอบเดิมมาก (98 นาที)": ชุดข้อมูลใหญ่ขึ้น (2,489 vs 2,190 ภาพ) และรันแบบไม่ได้ถูกขัดจังหวะเหมือนรอบ aug960 (ซึ่งรอบนั้น 150 รอบจริงถูกแบ่งเป็นสองช่วงจาก resume) เวลาต่อรอบจึงเทียบตรง ๆ ไม่ได้เช่นกัน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พอมีชุดข้อมูลใหม่ พวกเราตั้งคำถามว่า ในเมื่อชุดข้อมูลไม่สมดุลมาก เราควรจัดการความไม่สมดุลนั้นไหม และจัดการยังไงดี พวกเราจึงทดลองสี่แบบ โดยคุมทุกอย่างให้เท่ากันหมด ต่างกันแค่ชุดข้อมูลที่ป้อนเข้าไป</a:t>
            </a:r>
          </a:p>
          <a:p>
            <a:endParaRPr/>
          </a:p>
          <a:p>
            <a:r>
              <a:t>แบบแรกคือ 9 คลาสครบตามปกติ แบบที่สองตัด Stitch Scissors ที่มีน้อยมากออก แบบที่สามลดเหลือ 5 คลาสแบบระยะที่ 1 และแบบที่สี่สุ่มลดคลาส finger ที่มีเยอะที่สุดลง เพื่อให้สัดส่วนสมดุลขึ้น</a:t>
            </a:r>
          </a:p>
          <a:p>
            <a:endParaRPr/>
          </a:p>
          <a:p>
            <a:r>
              <a:t>ผลคือแบบที่ไม่ทำอะไรเลยชนะครับ การตัด Stitch Scissors ออกทำให้แย่ลงเล็กน้อย การลดเหลือ 5 คลาสแย่ลงชัดเจน แต่ที่แย่ที่สุดคือการสุ่มลด finger — ตกไปถึง 18 จุด เหตุผลที่พวกเราวิเคราะห์คือ ภาพที่มี finger เยอะ ก็คือภาพที่มีคลาสอื่นอยู่ในนั้นด้วย พอสุ่มตัดภาพออก เราไม่ได้ตัดแค่ finger แต่ตัดตัวอย่างของคลาสอื่นทิ้งไปด้วย</a:t>
            </a:r>
          </a:p>
          <a:p>
            <a:endParaRPr/>
          </a:p>
          <a:p>
            <a:r>
              <a:t>ข้อควรระวังที่ต้องเรียนคือ ตัวเลขชุดนี้วัดบนชุดตรวจสอบที่แบ่งใหม่ ไม่ใช่ชุดเดียวกับรอบก่อน พวกเราจึงเทียบเลข 0.7169 กับ 0.7160 ตรง ๆ ไม่ได้ แต่การเทียบสี่แบบนี้กันเองสะอาด เพราะทั้งสี่ใช้ชุดตรวจสอบเดียวกันครับ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แผ่นสุดท้ายของส่วนผลการทดลองครับ ชุดทดสอบคือชุดที่โมเดลไม่เคยเห็นเลยตลอดการฝึก และไม่ได้ถูกใช้เลือก checkpoint ด้วย ผลคือ 0.7212 ต่ำกว่าชุดตรวจสอบแค่ 0.13 จุด ซึ่งใกล้กันมาก ถ้าห่างกันมากกว่านี้มากจะเป็นสัญญาณว่าเราเผลอปรับโมเดลตามชุดตรวจสอบมากเกินไป แต่ในกรณีนี้ไม่มีสัญญาณแบบนั้นเลยครับ และผลของ needle บนชุดทดสอบก็ยังคงเป็นคลาสที่อ่อนที่สุดเหมือนบนชุดตรวจสอบ ทิศทางเดียวกัน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มาถึงชิ้นงานที่สองครับ อาจารย์อาจสงสัยตั้งแต่ต้นว่าทำไมโครงงานตรวจจับวัตถุถึงมีเว็บแอปด้วย พวกเรามีสามเหตุผล</a:t>
            </a:r>
          </a:p>
          <a:p>
            <a:endParaRPr/>
          </a:p>
          <a:p>
            <a:r>
              <a:t>ข้อแรกคือเรื่องวงจรที่เล่าไปในตอนต้น — โมเดลไม่ได้จบที่การรายงานตัวเลข แต่ต้องกลับไปช่วยกำกับข้อมูลรอบถัดไป ซึ่งต้องมีเครื่องมือรองรับ</a:t>
            </a:r>
          </a:p>
          <a:p>
            <a:endParaRPr/>
          </a:p>
          <a:p>
            <a:r>
              <a:t>ข้อสองคือหลักฐานเชิงประจักษ์ ชุดข้อมูลทั้งหมดของโครงงานนี้ผลิตผ่านเครื่องมือนี้จริง ไม่ใช่เครื่องมือที่สร้างไว้เพื่อโชว์</a:t>
            </a:r>
          </a:p>
          <a:p>
            <a:endParaRPr/>
          </a:p>
          <a:p>
            <a:r>
              <a:t>ข้อสามคือในรายงานระยะที่ 1 พวกเราเขียนเองว่าสิ่งที่ขาดคือ interface ที่ผู้ไม่มีพื้นฐานเทคโนโลยีใช้ได้ เว็บแอปนี้คือการทำตามข้อเสนอของตัวเองครับ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เว็บแอปนี้คือเครื่องมือสร้างชุดข้อมูลครับ รับวิดีโอเข้าไป ได้ชุดข้อมูลพร้อมฝึกออกมา ผู้ใช้ที่ออกแบบไว้คือคนที่ต้องสร้างชุดข้อมูล ซึ่งในโครงงานนี้ก็คือทีมของพวกเราเอง พวกเราออกแบบสำหรับผู้ใช้ทีละคน ไม่ได้ทำระบบหลายผู้ใช้ ซึ่งเป็นการตัดสินใจที่จะอธิบายในส่วนเครื่องมือ</a:t>
            </a:r>
          </a:p>
          <a:p>
            <a:endParaRPr/>
          </a:p>
          <a:p>
            <a:r>
              <a:t>จุดที่เชื่อมกับฝั่งโมเดลคือตรงนี้ครับ — เมื่อฝึกโมเดลเสร็จ เราได้ไฟล์ .pt มาหนึ่งไฟล์ เอาไฟล์นั้นอัปโหลดเข้าระบบ แล้วมันจะไปโผล่ในรายการโมเดลให้เลือกใช้ได้ทันที คนใช้ไม่ต้องเขียนโค้ดหรือพิมพ์คำสั่งอะไรเลย</a:t>
            </a:r>
          </a:p>
          <a:p>
            <a:endParaRPr/>
          </a:p>
          <a:p>
            <a:r>
              <a:t>การใช้งานเรียงเป็นสี่ขั้นเชิงเส้น สกัดเฟรม ตรวจจับ กำกับข้อมูล แล้วส่งออก ซึ่งตรงกับลำดับงานจริง จึงออกแบบเป็นแถบเมนูด้านบน ไม่ใช่เมนูข้าง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สถาปัตยกรรมระบบครับ ก่อนจะมีเว็บแอป พวกเรามีโปรแกรมเดสก์ท็อปที่เขียนด้วย Tkinter อยู่แล้ว ตอนทำเว็บแอป พวกเราไม่ได้เขียนโค้ดตรวจจับใหม่ แต่แยกส่วนแกนกลางออกมาเป็นโมดูล แล้วให้ทั้งโปรแกรมเดสก์ท็อปและเว็บแอปเรียกใช้โมดูลเดียวกัน ข้อดีคือถ้าแก้ตรรกะการตรวจจับ แก้ที่เดียว ทั้งสองทางได้เหมือนกันหมด และตัวเลขความเร็วที่พวกเราวัด ก็วัดผ่านโมดูลนี้ ซึ่งเป็นเส้นทางเดียวกับที่เว็บแอปใช้จริงครับ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แผนภาพบริบทครับ ระบบทั้งหมดติดต่อกับภายนอกแค่สองทาง ทางแรกคือผู้ใช้ผ่านเบราว์เซอร์ ทางที่สองคือ Roboflow Cloud ซึ่งเป็นตัวเลือกเสริม ไม่ใช่สิ่งที่จำเป็น ส่วน Tesseract ที่ใช้ทำ OCR พวกเราไม่นับเป็นตัวแทนภายนอก เพราะมันติดตั้งและรันอยู่ในเครื่องเดียวกัน ไม่มีข้อมูลออกไปไหนครับ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แผนภาพยูสเคสครับ ผู้ใช้มีเป้าหมายหลักแปดอย่าง สิ่งที่อยากชี้คือกล่อง "กำกับข้อมูลภาพ" ซึ่งมีรูปแบบย่อยสามชนิด พวกเราทำครบทั้งสามแบบ คือกรอบสี่เหลี่ยม รูปหลายเหลี่ยม และจุดสำคัญ แม้ว่างานฝึกโมเดลของโครงงานนี้จะใช้แค่กรอบสี่เหลี่ยม เหตุผลที่ทำเพิ่มคือสองแบบหลังอยู่ในแผนงานระยะที่สามที่พวกเราตั้งใจทำให้ได้ครับ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แผนภาพการไหลของข้อมูลครับ จุดที่พวกเราอยากให้อาจารย์สังเกตคือแหล่งข้อมูล D3 ตรงกลาง ซึ่งก็คือไฟล์ state.json ทุกโพรเซส ไม่ว่าจะเป็นการตรวจจับ การกำกับข้อมูล หรือการส่งออก อ่านและเขียนที่ไฟล์เดียวกันหมด พวกเราออกแบบแบบนี้โดยตั้งใจ เพราะถ้าแยกเก็บสถานะหลายที่ จะเกิดปัญหาว่าข้อมูลสองที่ไม่ตรงกัน ซึ่งเป็นบั๊กที่หายากมาก ข้อแลกเปลี่ยนคือระบบนี้รองรับผู้ใช้ทีละคนเท่านั้น ซึ่งพวกเรายอมรับตั้งแต่ออกแบบครับ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โครงสร้างข้อมูลครับ เอนทิตีศูนย์กลางคือ FRAME เหตุผลที่มันเป็นศูนย์กลางคือมันสวมสามบทบาทพร้อมกัน — เป็นผลผลิตของขั้นสกัดเฟรม เป็นเป้าหมายที่โมเดลตรวจจับ และเป็นวัตถุที่คนกำกับข้อมูล กรอบทุกกรอบผูกกับเฟรมหนึ่งเฟรม และแต่ละกรอบเก็บว่ามาจากคนหรือมาจาก AI ซึ่งเป็นข้อมูลที่ใช้คำนวณอัตราการยอมรับผล AI ในหน้า Analytics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สองแผนภาพลำดับงานนี้เป็นแพทเทิร์นเดียวกันครับ พูดคู่กันจะเห็นภาพชัดกว่า</a:t>
            </a:r>
          </a:p>
          <a:p>
            <a:endParaRPr/>
          </a:p>
          <a:p>
            <a:r>
              <a:t>ซ้ายคือลำดับของการสกัดเฟรม จุดสำคัญอยู่ที่ข้อความที่สี่ — เซิร์ฟเวอร์ตอบกลับก่อนที่งานจะเสร็จ เหตุผลคือวิดีโอความยาวหลายนาทีใช้เวลาประมวลผลนานเกินกว่าที่เบราว์เซอร์จะรอไหว ระบบจึงสร้างเธรดเบื้องหลังขึ้นมาทำงาน แล้วตอบกลับทันทีว่ารับงานแล้ว พร้อมรหัสงาน หน้าเว็บก็ถามความคืบหน้าเป็นระยะ ๆ ผลพลอยได้คือผู้ใช้กดหยุดกลางคันได้ทุกเมื่อครับ</a:t>
            </a:r>
          </a:p>
          <a:p>
            <a:endParaRPr/>
          </a:p>
          <a:p>
            <a:r>
              <a:t>ขวาคือ Label Assist ซึ่งเป็นฟีเจอร์ที่ทำให้วงจรในผัง W ปิดได้จริง คือการให้แบบจำลองเสนอกรอบให้ก่อน แล้วคนแค่มาตรวจว่าถูกหรือผิด ซึ่งเร็วกว่าการตีกรอบใหม่ตั้งแต่ต้นมาก สิ่งที่อยากชี้ในแผนภาพคือกรอบ alt อันแรกครับ ถ้าผู้ใช้เลือกใช้โมเดลจากคลาวด์แทนโมเดลในเครื่อง ระบบจะถามยืนยันก่อนทุกครั้ง เหตุผลตรงไปตรงมาคือมันกินเครดิตจริงและเสียเงินจริง พวกเราเจอปัญหานี้ตอนทดสอบ จึงเพิ่มกล่องยืนยันเข้าไป ส่วนโมเดลในเครื่องไม่ต้องยืนยัน เพราะไม่มีต้นทุนต่อครั้งครับ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แผนภาพกิจกรรมของวงจรการกำกับข้อมูลครับ ซึ่งเป็นการขยายผัง W ให้ละเอียดขึ้น</a:t>
            </a:r>
          </a:p>
          <a:p>
            <a:endParaRPr/>
          </a:p>
          <a:p>
            <a:r>
              <a:t>จุดที่พวกเราทำกรอบแดงไว้คือสิ่งที่พวกเราคิดว่าสำคัญที่สุด คือตอนที่ได้โมเดลรุ่นใหม่มาแล้วสั่งตรวจจับทั้งชุดใหม่อีกรอบ ต้องตั้งค่าให้ระบบข้ามเฟรมที่คนตรวจไปแล้ว ถ้าไม่มีเงื่อนไขนี้ ผลจากโมเดลรุ่นใหม่จะไปเขียนทับกรอบที่คนแก้ไว้แล้ว โดยไม่มีการเตือนอะไรเลย แล้วงานที่คนทำไว้จะหายไปเงียบ ๆ</a:t>
            </a:r>
          </a:p>
          <a:p>
            <a:endParaRPr/>
          </a:p>
          <a:p>
            <a:r>
              <a:t>พวกเราเจอประเด็นนี้ตอนออกแบบ ไม่ใช่ตอนเกิดปัญหาจริง ซึ่งพวกเราคิดว่าโชคดีครับ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สองแผนภาพสถานะครับ ซ้ายคือสถานะของงานเบื้องหลัง สิ่งที่อยากชี้คือไม่มีสถานะรอคิว เพราะระบบสร้างเธรดแล้วเริ่มทำทันที ไม่มีระบบคิว ซึ่งเป็นการตัดสินใจที่เหมาะกับงานผู้ใช้คนเดียว แต่จะไม่เหมาะถ้ามีผู้ใช้หลายคนพร้อมกัน</a:t>
            </a:r>
          </a:p>
          <a:p>
            <a:endParaRPr/>
          </a:p>
          <a:p>
            <a:r>
              <a:t>ขวาคือสถานะของเฟรม สิ่งที่อยากชี้คือเส้นย้อนกลับ จาก "กำกับและรีวิวแล้ว" กลับไป "รอการยืนยัน" เส้นนั้นคือกรณีที่ผู้ใช้กลับมาแก้งานตัวเอง ซึ่งเกิดขึ้นบ่อยมากในการทำงานจริงครับ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เรื่องการออกแบบหน้าจอครับ หลักการแรกคือออกแบบตามลำดับงานจริง ไม่ใช่ตามโครงสร้างข้อมูล เพราะงานนี้เป็นลำดับเชิงเส้นสี่ขั้น พวกเราจึงใช้แถบเมนูด้านบน ไม่ใช้เมนูข้าง</a:t>
            </a:r>
          </a:p>
          <a:p>
            <a:endParaRPr/>
          </a:p>
          <a:p>
            <a:r>
              <a:t>หลักการที่สองที่พวกเราภูมิใจคือกฎการใช้สีครับ ในหน้ากำกับข้อมูล มีข้อมูลสองอย่างที่ต้องสื่อพร้อมกัน — กรอบนี้เป็นคลาสอะไร และกรอบนี้มาจากไหน ถ้าใช้สีสื่อทั้งสองอย่าง ผู้ใช้จะสับสน พวกเราจึงกำหนดว่าสีสื่อคลาสอย่างเดียว ส่วนที่มาของกรอบสื่อด้วยลักษณะเส้น เส้นประคือ AI เสนอมาแต่ยังไม่ยืนยัน เส้นทึบคือคนยืนยันแล้ว</a:t>
            </a:r>
          </a:p>
          <a:p>
            <a:endParaRPr/>
          </a:p>
          <a:p>
            <a:r>
              <a:t>อีกอย่างคือแผ่นสรุปคีย์ลัด พวกเราไม่ได้พิมพ์มันขึ้นมาเอง แต่ generate จากตารางเดียวกับที่โค้ดใช้ เพราะเอกสารที่พิมพ์มือจะเพี้ยนจากโค้ดเสมอเมื่อเวลาผ่านไปครับ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ภาพหน้าจอสี่หน้านี้ครับ เรียงตามลำดับการใช้งานจริงทั้งสี่ขั้น — สกัดเฟรม ตรวจจับ กำกับข้อมูล ส่งออก ภาพที่สองคือหน้าเลือกแบบจำลอง ซึ่งเป็นจุดที่ไฟล์ .pt จากฝั่งโมเดลเข้ามาเชื่อมกับฝั่งเว็บ ส่วนหน้ากำกับข้อมูลและ Analytics พวกเราแยกไปอธิบายละเอียดในแผ่นเดี่ยวถัดจากนี้ครับ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หน้านี้คือหน้าที่ผู้ใช้ใช้เวลาอยู่ด้วยมากที่สุดในทั้งระบบครับ จึงเป็นหน้าที่พวกเราออกแบบละเอียดที่สุด ซ้ายมือคือแถบภาพย่อของทุกเฟรม มีป้ายสถานะบอกว่าเฟรมไหนต้องรีวิว เฟรมไหนรีวิวแล้ว เฟรมไหนมี AI เสนอกรอบมาแต่ยังไม่ยืนยัน กลางจอคือพื้นที่วาด ซึ่งใช้กฎสีที่เล่าไปในสไลด์ก่อนหน้า — เส้นประคือกรอบที่ AI เสนอ เส้นทึบคือกรอบที่คนยืนยันแล้ว ขวามือคือแผงคุณสมบัติของกรอบที่เลือกอยู่ และล่างสุดคือแถบสถานะ บอกความคืบหน้าของทั้งเฟรมและงานเบื้องหลังที่กำลังรัน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หน้า Analytics เก็บประวัติเวอร์ชันของโมเดลที่เคยใช้ในระบบ และคำนวณอัตราการยอมรับผลที่ AI เสนอ คือบอกได้ว่าโมเดลรุ่นไหนเสนอกรอบมาแล้วคนยอมรับกี่เปอร์เซ็นต์ กี่เปอร์เซ็นต์ที่ต้องแก้ และกี่เปอร์เซ็นต์ที่ปฏิเสธ พวกเราคิดว่าตัวเลขนี้สำคัญไม่แพ้ mAP เพราะมันวัดจากการใช้งานจริงของคนในทีม ไม่ใช่จากชุดตรวจสอบที่แยกไว้ล่วงหน้า — ถ้าเวลาอำนวย พวกเราขอสาธิตสดในเครื่องต่อจากนี้เลยครับ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(แผ่นนี้ไม่ต้องพูดมาก — เป็นแผนที่ให้กรรมการตามทันระหว่างสาธิต ให้ขึ้นค้างไว้แล้วสาธิตจริง)</a:t>
            </a:r>
          </a:p>
          <a:p>
            <a:endParaRPr/>
          </a:p>
          <a:p>
            <a:r>
              <a:t>ลำดับ: เปิดเว็บแอป (ไม่มีหน้าเข้าสู่ระบบแล้ว) → อัปโหลดวิดีโอทดสอบ 30 วินาที ตั้งค่า สกัดเฟรม (ให้เห็นแถบความคืบหน้าและปุ่มหยุด) → หน้าตรวจจับ เลือกโมเดล 9 คลาสจากรายการ รันแบบกลุ่ม → หน้ากำกับข้อมูล ให้เห็นกรอบเส้นประที่ AI เสนอ ยืนยันหนึ่งกรอบ แก้หนึ่งกรอบ → หน้าส่งออก เลือก YOLO แบ่ง train/val/test ดูสถิติก่อนส่งออก → เปิด Analytics ให้เห็นว่าการยอมรับ/ปฏิเสธเมื่อครู่ถูกบันทึกแล้ว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ตารางนี้คือภาพรวมฟังก์ชันทั้งระบบครับ พวกเราไม่ได้ตั้งใจให้อาจารย์อ่านทุกช่อง แต่อยากให้เห็นว่าขอบเขตครอบคลุมแค่ไหน ทุกฟังก์ชันในตารางนี้ทำงานได้จริงและถูกใช้ผลิตชุดข้อมูลของโครงงานนี้จริง ตัวเลขข้างล่างคือ 38 endpoint และโค้ดสี่ไฟล์หลักรวมเกือบแปดพันบรรทัด ที่อยากเน้นคือ ทั้งหมดนี้ไม่มีฐานข้อมูล ไม่มี Docker และไม่มีไลบรารีฝั่งหน้าเว็บเลย ซึ่งเป็นการตัดสินใจตั้งแต่ออกแบบ และจะอธิบายเหตุผลในส่วนถัดไปครับ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System Framework ครับ ก่อนจะพูดเรื่องการติดตั้งใช้งานจริงในแผ่นถัดไป ขอตอบคำถามที่มักถูกถามก่อนว่าเว็บแอปนี้ประกอบด้วยกี่บริการ อะไรบ้าง</a:t>
            </a:r>
          </a:p>
          <a:p>
            <a:endParaRPr/>
          </a:p>
          <a:p>
            <a:r>
              <a:t>คำตอบคือมีจริง ๆ แค่บริการเดียวครับ คือ Server — FastAPI กับ Uvicorn รันเป็นโปรเซสเดียว รับทั้ง 38 endpoint ของ API</a:t>
            </a:r>
          </a:p>
          <a:p>
            <a:endParaRPr/>
          </a:p>
          <a:p>
            <a:r>
              <a:t>ส่วน Frontend ที่เห็นในเบราว์เซอร์ ไม่ได้เป็นบริการแยกอีกตัวหนึ่ง แต่เป็นไฟล์ static ธรรมดาสามไฟล์ ที่ถูกเสิร์ฟออกมาจากโปรเซสเดียวกับ Server ผ่านคำสั่ง mount ของ FastAPI เอง ไม่มี framework ไม่มีขั้นตอน build ไม่ต้องมีเซิร์ฟเวอร์ต่างหากสำหรับหน้าเว็บ</a:t>
            </a:r>
          </a:p>
          <a:p>
            <a:endParaRPr/>
          </a:p>
          <a:p>
            <a:r>
              <a:t>และ Database ที่หลายคนอาจคาดว่าต้องมี พวกเราไม่มีครับ ระบบเก็บสถานะทั้งหมดไว้ในไฟล์ state.json ไฟล์เดียว เขียนแบบ atomic คือเขียนลงไฟล์ชั่วคราวก่อนแล้วค่อยเปลี่ยนชื่อทับของเดิม กันไฟล์เสียหากไฟดับหรือโปรแกรมค้างกลางทาง</a:t>
            </a:r>
          </a:p>
          <a:p>
            <a:endParaRPr/>
          </a:p>
          <a:p>
            <a:r>
              <a:t>ขอย้ำแบบเดียวกับที่พวกเราจะพูดเรื่อง deployment ในแผ่นถัดไปครับ — การไม่มี Database ไม่ใช่ข้อจำกัดที่พวกเรายังทำไม่เสร็จ แต่เป็นการตัดสินใจตั้งแต่ออกแบบ เพราะผู้ใช้เป้าหมายมีคนเดียว เครื่องเดียว</a:t>
            </a:r>
          </a:p>
          <a:p>
            <a:endParaRPr/>
          </a:p>
          <a:p>
            <a:r>
              <a:t>ส่วน Roboflow Cloud API ที่เห็นเป็นกล่องเล็กด้านขวา เป็นบริการภายนอกที่ใช้เฉพาะตอนเลือกโหมดตรวจจับผ่านคลาวด์ ไม่ใช่บริการหลักที่ระบบต้องพึ่งพาครับ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เรื่องการติดตั้งใช้งานครับ ตอนนี้ระบบทำงานครบวงจรได้จริงบนเครื่องเดียว เบราว์เซอร์ เซิร์ฟเวอร์ และโมเดล อยู่ในเครื่องเดียวกันหมด ไม่มีฐานข้อมูล ไม่มี Docker ซึ่งพวกเราขอย้ำว่าเป็นการตัดสินใจ ไม่ใช่ข้อจำกัด เพราะผู้ใช้เป้าหมายคือคนเดียว การเพิ่มฐานข้อมูลจะเพิ่มขั้นตอนติดตั้งโดยไม่ได้อะไรกลับมา</a:t>
            </a:r>
          </a:p>
          <a:p>
            <a:endParaRPr/>
          </a:p>
          <a:p>
            <a:r>
              <a:t>หลักฐานที่หนักที่สุดว่าใช้งานได้จริงคือชุดข้อมูลของโครงงานนี้เอง</a:t>
            </a:r>
          </a:p>
          <a:p>
            <a:endParaRPr/>
          </a:p>
          <a:p>
            <a:r>
              <a:t>และพวกเราขอเรียนสิ่งที่ยังไม่ได้ทำตรง ๆ ครับ — ยังไม่เปิด HTTPS session ยังเก็บในหน่วยความจำ ซึ่งรีสตาร์ทเซิร์ฟเวอร์แล้วผู้ใช้จะหลุด และยังไม่ได้ขึ้นโดเมนจริง สามข้อนี้พวกเรารู้ว่าต้องทำ และรู้ว่าต้องทำยังไง แต่ยังไม่ได้ทำในรอบนี้ แผนที่ตัดสินใจไว้แล้วคือใช้โฮสต์แบบ CPU อย่างเดียว ส่วนการฝึกโมเดลค่อยเช่า GPU เป็นชั่วโมง แล้วอัปโหลดไฟล์ .pt กลับเข้าระบบครับ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ตัวเลขความเร็วครับ และขอเรียนก่อนว่าตัวเลขชุดนี้พวกเราวัดเอง เมื่อวันที่ 14 สิงหาคม ไม่ใช่ตัวเลขที่ประมาณเอาหรือคัดลอกมาจากเอกสารของ Ultralytics</a:t>
            </a:r>
          </a:p>
          <a:p>
            <a:endParaRPr/>
          </a:p>
          <a:p>
            <a:r>
              <a:t>วิธีวัดคือเรียกผ่านโมดูลตรวจจับตัวเดียวกับที่เว็บแอปเรียกจริง ไม่ใช่เรียกไลบรารีตรง ๆ ตัวเลขจึงรวมการกรองรายคลาสและการแปลงผลที่ระบบทำทุกครั้งด้วย</a:t>
            </a:r>
          </a:p>
          <a:p>
            <a:endParaRPr/>
          </a:p>
          <a:p>
            <a:r>
              <a:t>คอลัมน์ซ้ายคือ CPU ซึ่งเป็นตัวเลขที่ตรงกับการใช้งานจริงที่สุด เพราะสภาพแวดล้อมของเว็บแอปติดตั้ง PyTorch แบบ CPU และแผน deploy ก็เป็นโฮสต์ CPU ได้ประมาณ 5.6 เฟรมต่อวินาที แปลว่าตรวจจับ 400 เฟรมใช้เวลาประมาณหนึ่งนาทียี่สิบวินาที ซึ่งรับได้เพราะเป็นงานเบื้องหลัง ผู้ใช้ทำอย่างอื่นไปพลางได้</a:t>
            </a:r>
          </a:p>
          <a:p>
            <a:endParaRPr/>
          </a:p>
          <a:p>
            <a:r>
              <a:t>และพวกเราขอระบุสิ่งที่ยังไม่ได้วัดไว้ด้วยครับ คือเวลาแบบรวม HTTP การรับหลายคำขอพร้อมกัน และประสิทธิภาพบนเครื่องระดับโฮสต์จริง สามข้อนี้พวกเราจะไม่อ้างเกินกว่าที่วัดครับ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สามข้อสังเกตจากการวัดครับ ข้อแรก เวลาโหลดโมเดลแปดวินาทีจ่ายแค่ครั้งเดียว เพราะเซิร์ฟเวอร์แคชไว้ ไม่ได้โหลดใหม่ทุกเฟรม ข้อสอง Label Assist ทีละเฟรมตอบใน 0.2 วินาที ซึ่งเร็วพอที่จะตอบในคำขอเดียว พวกเราจึงไม่ทำเป็นงานเบื้องหลัง ต่างจากการตรวจจับแบบกลุ่ม ข้อสาม ที่น่าสนใจคือการอ่านไฟล์ภาพจากดิสก์กินเวลา 36 มิลลิวินาทีจาก 179 คือหนึ่งในห้าของเวลาทั้งหมดไม่ได้อยู่ที่โมเดลเลย ถ้าจะเพิ่มความเร็วในอนาคต ตรงนี้คือจุดที่คุ้มกว่าครับ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เครื่องมือฝั่งโมเดลครับ ผมขอไล่เฉพาะที่มีเหตุผลน่าสนใจ</a:t>
            </a:r>
          </a:p>
          <a:p>
            <a:endParaRPr/>
          </a:p>
          <a:p>
            <a:r>
              <a:t>YOLO11n เลือกเพราะข้อจำกัด VRAM 4 กิกะไบต์ ตามที่เล่าไปในส่วนที่ 1</a:t>
            </a:r>
          </a:p>
          <a:p>
            <a:endParaRPr/>
          </a:p>
          <a:p>
            <a:r>
              <a:t>PyTorch พวกเราติดตั้งสองแบบครับ แบบที่รองรับการ์ดจอสำหรับเครื่องที่ใช้ฝึก กับแบบ CPU อย่างเดียวสำหรับเว็บแอป เพราะแพ็กเกจ CPU เล็กกว่ามาก และโฮสต์จริงไม่มีการ์ดจอ</a:t>
            </a:r>
          </a:p>
          <a:p>
            <a:endParaRPr/>
          </a:p>
          <a:p>
            <a:r>
              <a:t>Roboflow พวกเราใช้เฉพาะการกำกับรอบแรก เพราะต้องกำกับพร้อมกันสามคน ซึ่งเว็บแอปของเราทำไม่ได้โดยการออกแบบ นี่เป็นตัวอย่างว่าพวกเราเลือกเครื่องมือตามงาน ไม่ได้พยายามทำทุกอย่างเอง</a:t>
            </a:r>
          </a:p>
          <a:p>
            <a:endParaRPr/>
          </a:p>
          <a:p>
            <a:r>
              <a:t>สามบรรทัดล่างสุดเป็นสคริปต์ที่พวกเราเขียนเองครับ และพวกเราคิดว่าสามตัวนี้สำคัญ ตัวแรกวัดผลจากไฟล์ best.pt ใหม่ทั้งหมด เพราะตัวเลขที่ขึ้นตอนฝึกไม่ใช่ตัวเลขของ checkpoint ที่เก็บไว้ ตัวที่สองวัดขนาดกรอบจากไฟล์ป้ายกำกับตรง ๆ ใช้แค่ไลบรารีมาตรฐานของ Python ไม่โหลดโมเดลเลย ซึ่งเป็นตัวที่ทำให้พวกเราวินิจฉัยปัญหา needle ได้ ตัวที่สามวัดความเร็วผ่านเส้นทางเดียวกับที่เว็บแอปเรียกจริงครับ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เครื่องมือฝั่งเว็บครับ</a:t>
            </a:r>
          </a:p>
          <a:p>
            <a:endParaRPr/>
          </a:p>
          <a:p>
            <a:r>
              <a:t>FastAPI เลือกเพราะมีการตรวจชนิดข้อมูลในตัว ทำให้ข้อมูลผิดรูปแบบถูกจับได้ตั้งแต่ขอบระบบ ไม่หลุดเข้าไปพังข้างใน</a:t>
            </a:r>
          </a:p>
          <a:p>
            <a:endParaRPr/>
          </a:p>
          <a:p>
            <a:r>
              <a:t>ฝั่งหน้าเว็บพวกเราใช้ HTML CSS JavaScript ล้วน ๆ ไม่มี framework เลย เหตุผลคืองานหลักของหน้ากำกับข้อมูลคือการวาดกรอบบน canvas ซึ่ง React หรือ Vue ไม่ได้ช่วยอะไร แต่จะเพิ่มขั้นตอน build ที่คนติดตั้งต้องทำ</a:t>
            </a:r>
          </a:p>
          <a:p>
            <a:endParaRPr/>
          </a:p>
          <a:p>
            <a:r>
              <a:t>state.json คือการตัดสินใจว่าจะไม่ใช้ฐานข้อมูล เพราะเป็นงานผู้ใช้คนเดียวบนเครื่องเดียว ประโยชน์ที่ได้จริงคือย้ายงานไปเครื่องอื่นด้วยการคัดลอกโฟลเดอร์เดียว</a:t>
            </a:r>
          </a:p>
          <a:p>
            <a:endParaRPr/>
          </a:p>
          <a:p>
            <a:r>
              <a:t>งานเบื้องหลังใช้เธรดกับการถามความคืบหน้าเป็นระยะ ไม่ใช้ WebSocket เพราะงานยาวมีทีละไม่กี่งาน และแบบนี้หาสาเหตุตอนมีปัญหาง่ายกว่ามาก</a:t>
            </a:r>
          </a:p>
          <a:p>
            <a:endParaRPr/>
          </a:p>
          <a:p>
            <a:r>
              <a:t>บรรทัดสุดท้ายเป็นเกร็ดเล็กน้อยครับ สไลด์ที่อาจารย์กำลังดูอยู่นี้พวกเราสร้างจากโค้ด Python เพราะตัวเลขในสไลด์เยอะมากและต้องแก้บ่อย การสร้างจากโค้ดทำให้แก้ที่เดียวแล้วอัปเดตทุกแผ่นครับ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แผ่นสุดท้ายของส่วนนี้ครับ พวกเราคิดว่าคำถามที่กรรมการน่าจะถามคือ "ทำไมไม่ใช้สิ่งนั้นสิ่งนี้" พวกเราจึงรวบรวมมาไว้ในแผ่นเดียว</a:t>
            </a:r>
          </a:p>
          <a:p>
            <a:endParaRPr/>
          </a:p>
          <a:p>
            <a:r>
              <a:t>ทุกข้อในตารางนี้เป็นการตัดสินใจโดยดูจากขนาดของปัญหาจริง ไม่ใช่ข้อจำกัดที่พวกเราต้องแก้ตัว เช่น การไม่ใช้ Docker ไม่ใช่เพราะพวกเราใช้ไม่เป็น แต่เพราะระบบมีแค่ไฟล์ Python กับโฟลเดอร์ static ติดตั้งด้วยคำสั่งเดียวก็รันได้ การใส่ Docker เข้าไปจะเพิ่มสิ่งที่ผู้ใช้ต้องเรียนรู้โดยไม่ได้อะไรกลับมา</a:t>
            </a:r>
          </a:p>
          <a:p>
            <a:endParaRPr/>
          </a:p>
          <a:p>
            <a:r>
              <a:t>แต่พวกเราขอเรียนด้วยว่าการตัดสินใจเหล่านี้ผูกกับสมมติฐานว่ามีผู้ใช้คนเดียว ถ้าวันหนึ่งต้องรองรับหลายคนพร้อมกัน หลายข้อในตารางนี้ต้องเปลี่ยนครับ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แผ่นข้อจำกัดและงานถัดไปครับ พวกเราตั้งใจพูดข้อจำกัดเองก่อนที่อาจารย์จะถาม</a:t>
            </a:r>
          </a:p>
          <a:p>
            <a:endParaRPr/>
          </a:p>
          <a:p>
            <a:r>
              <a:t>ฝั่งโมเดล ข้อที่ใหญ่ที่สุดคือ needle ยังเป็นคลาสที่อ่อนที่สุดอยู่ดี พวกเราขอใช้คำว่า "ดีขึ้น" ไม่ใช่ "แก้ได้" เพราะจาก 0.36 เป็น 0.39 คือดีขึ้นจริง แต่ยังห่างจากคลาสอื่นมาก</a:t>
            </a:r>
          </a:p>
          <a:p>
            <a:endParaRPr/>
          </a:p>
          <a:p>
            <a:r>
              <a:t>ข้อสองคือ Stitch Scissors ที่มีตัวอย่างน้อยมาก ซึ่งพวกเราพูดถึงมาตลอด</a:t>
            </a:r>
          </a:p>
          <a:p>
            <a:endParaRPr/>
          </a:p>
          <a:p>
            <a:r>
              <a:t>ข้อสี่คือชุดข้อมูลรุ่นที่สองแบ่งชุดตรวจสอบใหม่ ทำให้เทียบกับผลรอบ aug960 เดิมตรง ๆ ไม่ได้ ถ้าจะเทียบให้สะอาดจริง ๆ ต้องฝึกโมเดลชุดเดิมบน split ใหม่ด้วย ซึ่งเป็นงานที่เหลืออยู่</a:t>
            </a:r>
          </a:p>
          <a:p>
            <a:endParaRPr/>
          </a:p>
          <a:p>
            <a:r>
              <a:t>ฝั่งเว็บแอป พวกเราวัดความเร็วแล้วแต่ยังไม่ครบทุกมิติ และยังไม่ได้ deploy จริง</a:t>
            </a:r>
          </a:p>
          <a:p>
            <a:endParaRPr/>
          </a:p>
          <a:p>
            <a:r>
              <a:t>ฝั่งขวาคืองานระยะถัดไป แบ่งเป็นสามกลุ่ม ฝั่งข้อมูล สิ่งที่สำคัญที่สุดคือเพิ่มตัวอย่างของ needle กับ Stitch Scissors เพราะจากทุกอย่างที่พวกเราวัดมา ข้อจำกัดที่ใหญ่ที่สุดคือจำนวนข้อมูล ไม่ใช่ตัวสถาปัตยกรรมโมเดล ฝั่งระบบคือการวัดประสิทธิภาพให้ครบและการ deploy จริง และเป้าหมายปลายทางคือโมเดลวิเคราะห์ลำดับเหตุการณ์เชิงเวลา ซึ่งจะตอบโจทย์ที่พวกเราตั้งไว้ตั้งแต่แผ่นที่สามได้จริง คือบอกได้ว่าผู้เรียนทำขั้นตอนถูกลำดับหรือเปล่า โมเดลตัวนั้นต้องการ input ที่บอกว่าแต่ละเฟรมมีอะไรอยู่ตรงไหน ซึ่งก็คือผลของโครงงานนี้ครับ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แผ่นนี้เทียบแผนกับของจริงครับ พวกเราเขียนแผนงานเป็นเอกสารตั้งแต่วันที่ 17 กรกฎาคม แล้วแบ่งเป็นสามระยะ ระยะที่หนึ่งกับสองทำได้ครบทั้งหมด ระยะที่สามซึ่งพวกเราตั้งใจเลื่อนไว้ตั้งแต่แรก ทำได้ 3 จาก 7 ข้อ คือรูปหลายเหลี่ยม จุดสำคัญ และ OCR ส่วนที่เหลือคือ SAM auto-box การ track ตามวิดีโอ ระบบหลายผู้ใช้ และกรอบเอียง ยังไม่ได้ทำ พวกเราขอเรียนว่าสี่ข้อนั้นไม่ใช่ของค้าง แต่อยู่นอก MVP ตั้งแต่ตอนวางแผนแล้วครับ เส้นเวลาด้านล่างตรวจสอบย้อนได้จากประวัติ git ทั้งหมด 105 commit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สรุปสามข้อครับ</a:t>
            </a:r>
          </a:p>
          <a:p>
            <a:endParaRPr/>
          </a:p>
          <a:p>
            <a:r>
              <a:t>ข้อแรก augmentation สำคัญมากกับชุดข้อมูลขนาดเล็ก และพวกเราไม่ได้พูดจากความรู้สึก แต่พิสูจน์ด้วยการทดลองที่คุมตัวแปรให้ต่างกันเพียงตัวเดียว</a:t>
            </a:r>
          </a:p>
          <a:p>
            <a:endParaRPr/>
          </a:p>
          <a:p>
            <a:r>
              <a:t>ข้อสอง ปัญหาของ needle เป็นเรื่องขนาดวัตถุ ไม่ใช่เรื่องการจำแนก และพวกเราวัดมันได้เป็นตัวเลข แล้วทดลองแก้ตามสมมติฐาน ผลออกมาเรียงตามขนาดวัตถุตามที่คาด รวมถึงข้อที่ว่าคะแนนรวมจะไม่ขึ้น</a:t>
            </a:r>
          </a:p>
          <a:p>
            <a:endParaRPr/>
          </a:p>
          <a:p>
            <a:r>
              <a:t>ข้อสาม เว็บแอปไม่ใช่ของแถม มันถูกใช้ผลิตชุดข้อมูลของโครงงานนี้จริง และวงจรหมุนครบรอบแล้ว คือโมเดลรอบแรกกลับไปช่วยกำกับข้อมูลจนได้ชุดที่สองออกมา</a:t>
            </a:r>
          </a:p>
          <a:p>
            <a:endParaRPr/>
          </a:p>
          <a:p>
            <a:r>
              <a:t>ขอบคุณอาจารย์ทุกท่านครับ พวกเรายินดีรับคำถามครับ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แผ่นสุดท้ายก่อนเปิดคำถามครับ เป็นการแบ่งงานในทีม ตรีฤทัยรับผิดชอบเอกสารรายงานทั้งเล่ม ฟ้าใสรับผิดชอบการกำกับข้อมูลทั้งหมด ซึ่งเป็นงานที่ใช้เวลามากที่สุดของโครงงาน ส่วนผมรับผิดชอบแบบจำลองกับเว็บแอปพลิเคชัน พวกเราแบ่งกันพูดตามส่วนที่แต่ละคนลงมือทำจริง ถ้าอาจารย์มีคำถามเจาะจงส่วนไหน ถามคนที่รับผิดชอบส่วนนั้นได้โดยตรงเลยครับ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แผ่นสุดท้ายคือแหล่งอ้างอิงครับ พวกเราตรวจวรรณกรรมที่เกี่ยวข้องไว้ รวมถึงงานวิจัยที่ใกล้เคียงโจทย์ของเราที่สุดที่หาได้ คืองานประเมินทักษะการเย็บแผลแบบเปิดด้วยวิดีโอ ซึ่งยืนยันว่าแนวทางที่พวกเราเลือก — เริ่มจากการตรวจจับวัตถุก่อนค่อยไปวิเคราะห์ลำดับขั้นตอน — ตรงกับที่วงการนี้ทำกันจริง รายการอ้างอิงแบบเต็มอยู่ในสไลด์สำรองครับ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(ไม่ต้องพูดเพิ่ม — ขึ้นค้างไว้ระหว่างตอบคำถามในช่วง Q&amp;A ทั้งหมด แทนที่จะปล่อยจอว่างหรือค้างที่แผ่นสรุป)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jpg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7" Type="http://schemas.openxmlformats.org/officeDocument/2006/relationships/image" Target="../media/image36.jp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jpg"/><Relationship Id="rId5" Type="http://schemas.openxmlformats.org/officeDocument/2006/relationships/image" Target="../media/image35.jpg"/><Relationship Id="rId4" Type="http://schemas.openxmlformats.org/officeDocument/2006/relationships/image" Target="../media/image32.jp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1-ml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1938" y="1005840"/>
            <a:ext cx="7940842" cy="5029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978408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42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ระบบตรวจจับอุปกรณ์การเย็บแผล
ด้วยปัญญาประดิษฐ์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Surgical Suture Instrument Detection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389120"/>
            <a:ext cx="97840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นางสาวตรีฤทัย แคยิหวา 66120361  ·  นางสาวฟ้าใส ขวัญปาน 66126467  ·  นายอภินันท์ อายุยงค์ 66112772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สาขาวิศวกรรมคอมพิวเตอร์และปัญญาประดิษฐ์  ·  ปีการศึกษา 2568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34440" y="2468880"/>
            <a:ext cx="96012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0 ·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แผนที่การนำเสนอ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44752"/>
          <a:ext cx="10911533" cy="38679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2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69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2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4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16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ส่วน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หัวข้อ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เวลา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ผู้พูด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Introduction — ปัญหา · วัตถุประสงค์ · ขอบเขต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5 น.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ตรีฤทัย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6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W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Framework — กระบวนการทำงานต้นจนจบ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5 น.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ตรีฤทัย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6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Literature Review — การตรวจจับวัตถุคืออะไร · ทำไมเลือก YOLO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5 น.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ตรีฤทัย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6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Model — สถาปัตยกรรมแบบจำลอง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6 น.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อภินันท์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6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Data Collection — ข้อมูลและป้ายกำกับ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6 น.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ฟ้าใส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6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4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Model Training — การฝึกแบบจำลอง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5 น.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อภินันท์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6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Model Result — ผลการทดลอง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12 น.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อภินันท์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16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6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Web Application Demonstration + สาธิต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8 น.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อภินันท์ (สาธิต: ฟ้าใส)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16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7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Tools &amp; Technology ที่ใช้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 น.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อภินันท์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16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8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Conclusion — ข้อจำกัด · สรุป · Q&amp;A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5 น.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อภินันท์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458968"/>
            <a:ext cx="10911535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หลักการแบ่ง: แบ่งตามงานที่แต่ละคนทำจริงและตอบคำถามได้จริง ไม่ได้แบ่งตามจำนวนแผ่น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อภินันท์พูดสองช่วง (ส่วน 2 และส่วน 4-8) เพราะเป็นผู้พัฒนาทั้งแบบจำลองและเว็บแอป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0 ·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ทำไมต้องมีระบบนี้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44752"/>
            <a:ext cx="1091153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การประเมินทักษะการเย็บแผลต้องใช้ผู้สอนนั่งดูทีละคน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1600" b="1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ผู้สอนหนึ่งคนดูผู้เรียนได้ทีละไม่กี่คน → การประเมินเป็น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คอขวด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ถ้าระบบบอกได้ว่า *ในภาพมีเครื่องมืออะไร อยู่ตรงไหน* จะเป็นฐานให้วิเคราะห์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ลำดับขั้นตอนการเย็บ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ได้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การตรวจจับวัตถุจึงเป็น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ก้าวแรกที่จำเป็น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ไม่ใช่เป้าหมายสุดท้าย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0 ·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โจทย์ในภาพเดียว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example-detection-cor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631" y="1444752"/>
            <a:ext cx="7266432" cy="4087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60527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ภาพเฟรมจริงจากชุดทดสอบ พร้อมกรอบและชื่อคลาสที่แบบจำลองทำนายจริง — needle · wound · finger · forcep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results-reannot/example-detection-correct.png — สร้างจาก inference จริง 16 ส.ค. 2569 ด้วย detector.YOLOv11Detector (เส้นทางเดียวกับเว็บแอป)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0 ·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Objectives and Scope of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5250027" cy="461772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5250027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466481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33472"/>
            <a:ext cx="4664811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1. พัฒนาแบบจำลอง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ที่ระบุตำแหน่งและจำแนกประเภทอุปกรณ์การเย็บแผล มือ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และบาดแผล จากภาพวิดีโอการฝึกปฏิบัติได้แบบอัตโนมัติ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2. พัฒนาเว็บแอปพลิเคชัน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ที่รองรับกระบวนการตั้งแต่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สกัดเฟรม → กำกับข้อมูล → เรียกแบบจำลองมาช่วยกำกับ → ส่งออกชุดข้อมูล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สำหรับการฝึกรอบถัดไป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1587" y="1444752"/>
            <a:ext cx="5250027" cy="461772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1587" y="1444752"/>
            <a:ext cx="5250027" cy="50292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94195" y="1719072"/>
            <a:ext cx="466481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Scope of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4195" y="2633472"/>
            <a:ext cx="4664811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อยู่ในขอบเขต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ข้อมูล: วิดีโอการฝึกเย็บบน </a:t>
            </a:r>
            <a:r>
              <a:rPr sz="13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แผ่นฝึกเย็บ</a:t>
            </a:r>
            <a:r>
              <a:rPr sz="13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(ไม่ใช่การผ่าตัดจริง)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วัตถุเป้าหมาย </a:t>
            </a:r>
            <a:r>
              <a:rPr sz="13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9 คลาส</a:t>
            </a:r>
            <a:r>
              <a:rPr sz="13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· แบบจำลอง </a:t>
            </a:r>
            <a:r>
              <a:rPr sz="13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YOLO11n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ฝึกบน </a:t>
            </a:r>
            <a:r>
              <a:rPr sz="13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เครื่องส่วนบุคคลที่มี GPU</a:t>
            </a:r>
            <a:r>
              <a:rPr sz="13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(RTX 3050 Laptop 4 GB) ไม่ได้ใช้ Colab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1300" b="0">
              <a:solidFill>
                <a:srgbClr val="5C6B7A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ยังไม่รวมในโครงงานนี้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การวิเคราะห์ลำดับเหตุการณ์เชิงเวลา (RNN) เพื่อจำแนกลำดับขั้นตอนการเย็บ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การเชื่อมกล้องแบบเรียลไทม์ในห้องปฏิบัติการ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source-docs/abstract-2026-08-12.md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0 ·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สิ่งที่ส่งมอบ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44752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เว็บแอปไม่ใช่ของแถม — ชุดข้อมูลของโครงงานนี้ถูกผลิตด้วยเครื่องมือนี้เอง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21992"/>
            <a:ext cx="3466490" cy="1783080"/>
          </a:xfrm>
          <a:prstGeom prst="roundRect">
            <a:avLst>
              <a:gd name="adj" fmla="val 6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587752"/>
            <a:ext cx="324703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483864"/>
            <a:ext cx="324703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ชิ้นงาน — แบบจำลอง + เว็บแอป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2602" y="2221992"/>
            <a:ext cx="3466490" cy="1783080"/>
          </a:xfrm>
          <a:prstGeom prst="roundRect">
            <a:avLst>
              <a:gd name="adj" fmla="val 6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72330" y="2587752"/>
            <a:ext cx="324703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2,726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2330" y="3483864"/>
            <a:ext cx="324703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เฟรมที่ผลิตผ่านระบบจริง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5124" y="2221992"/>
            <a:ext cx="3466490" cy="1783080"/>
          </a:xfrm>
          <a:prstGeom prst="roundRect">
            <a:avLst>
              <a:gd name="adj" fmla="val 6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94852" y="2587752"/>
            <a:ext cx="324703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21,127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4852" y="3483864"/>
            <a:ext cx="324703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กรอบวัตถุที่กำกับผ่านระบบ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25112"/>
            <a:ext cx="10911535" cy="1737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ตัวเลขสองตัวขวาคือผลงานสะสมในระบบจริง ณ 13 ส.ค. 2569 ไม่ใช่ขนาดชุดข้อมูลที่ใช้ฝึก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webapp/state.json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0 ·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เส้นทางจากระยะที่ 1 มาถึงระยะที่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5250027" cy="461772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5250027" cy="50292"/>
          </a:xfrm>
          <a:prstGeom prst="rect">
            <a:avLst/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466481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ระยะที่ 1 (รายงานเดิม)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33472"/>
            <a:ext cx="4664811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12 วิดีโอ · 120 เฟรม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5 คลาส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ยังไม่มีเครื่องมือของตัวเอง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ยังไม่มีการวินิจฉัยว่าคลาสไหนอ่อนเพราะอะไร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1587" y="1444752"/>
            <a:ext cx="5250027" cy="461772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1587" y="1444752"/>
            <a:ext cx="5250027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94195" y="1719072"/>
            <a:ext cx="466481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ระยะที่ 2 (โครงงานนี้)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4195" y="2633472"/>
            <a:ext cx="4664811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2,190 ภาพ ที่ใช้ฝึก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9 คลาส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เว็บแอป 4 ขั้นตอน + Label Assist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วัดขนาดวัตถุ → แก้ด้วยความละเอียดภาพ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97A00"/>
                </a:solidFill>
                <a:latin typeface="Leelawadee UI"/>
                <a:ea typeface="Leelawadee UI"/>
                <a:cs typeface="Leelawadee UI"/>
              </a:rPr>
              <a:t>⚠ ตัวเลข mAP ของสองระยะเทียบกันตรง ๆ ไม่ได้ — คนละชุดข้อมูล คนละจำนวนคลาส · ตารางนี้แสดงขอบเขตงานที่โตขึ้นเท่านั้น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source-docs/WORK_PLAN.md §Landing Page Content · รายงานผลการดำเนินงานระยะที่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34440" y="2468880"/>
            <a:ext cx="96012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W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Framework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ส่วนที่สำคัญที่สุดสำหรับกรรมการที่ไม่ได้ทำโปรเจกต์กับเรา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W ·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กระบวนการทั้งหมดเป็นวงจร ไม่ใช่เส้นตรง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A1-ml-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8978" y="1444752"/>
            <a:ext cx="6453738" cy="4087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60527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ผัง 9 ขั้น: บันทึกวิดีโอ → สกัดเฟรม → กำกับข้อมูล → ทำความสะอาดป้ายกำกับ → ส่งออก → ฝึกแบบจำลอง → ประเมินและวินิจฉัย → นำโมเดลกลับเข้าระบบ → คนตรวจและแก้ → วนกลับ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รูป ก1 · 05_reports/diagrams-svg/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W ·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แต่ละขั้นใช้อะไรทำ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44752"/>
          <a:ext cx="10911534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11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9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0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ขั้น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ทำอะไร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ทำด้วยอะไร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บันทึกวิดีโอการฝึกเย็บ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กล้อง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สกัดเฟรม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เว็บแอป — แบ่งช่วงเวลา · คัดภาพเบลอ · คัดภาพซ้ำ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กำกับข้อมูล 9 คลาส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Roboflow (สามคนพร้อมกัน) + เว็บแอป (แก้/ตรวจ)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4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ทำความสะอาดป้ายกำกับ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สคริปต์แปลงรูปหลายเหลี่ยม → กรอบสี่เหลี่ยม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ส่งออกชุดข้อมูล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เว็บแอป — YOLO/COCO/VOC · แบ่ง train-val-test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6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ฝึกแบบจำลอง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YOLO11n บน RTX 3050 4 GB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7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ประเมินและวินิจฉัย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สคริปต์วัดผลซ้ำจาก best.pt + สคริปต์วัดขนาดวัตถุ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8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นำโมเดลกลับเข้าระบบ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เว็บแอป — อัปโหลด .pt → เลือกจากรายการ → ช่วยกำกับ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9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คนตรวจและแก้ → วนกลับขั้น 3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เว็บแอป — ยืนยัน/ปฏิเสธผลก่อนบันทึก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W ·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วงจรนี้ปิดจริงแล้ว ไม่ใช่แค่ผังบนกระดาษ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44752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หลักฐานว่าวงจรหมุนครบรอบแล้วจริง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21992"/>
            <a:ext cx="3466490" cy="1783080"/>
          </a:xfrm>
          <a:prstGeom prst="roundRect">
            <a:avLst>
              <a:gd name="adj" fmla="val 6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587752"/>
            <a:ext cx="324703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2,726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483864"/>
            <a:ext cx="324703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เฟรมที่ผลิตผ่านระบบนี้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2602" y="2221992"/>
            <a:ext cx="3466490" cy="1783080"/>
          </a:xfrm>
          <a:prstGeom prst="roundRect">
            <a:avLst>
              <a:gd name="adj" fmla="val 6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72330" y="2587752"/>
            <a:ext cx="324703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21,127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2330" y="3483864"/>
            <a:ext cx="324703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กรอบที่กำกับผ่านระบบนี้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5124" y="2221992"/>
            <a:ext cx="3466490" cy="1783080"/>
          </a:xfrm>
          <a:prstGeom prst="roundRect">
            <a:avLst>
              <a:gd name="adj" fmla="val 6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94852" y="2587752"/>
            <a:ext cx="324703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2F9E78"/>
                </a:solidFill>
                <a:latin typeface="Leelawadee UI"/>
                <a:ea typeface="Leelawadee UI"/>
                <a:cs typeface="Leelawadee UI"/>
              </a:rPr>
              <a:t>รอบที่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4852" y="3483864"/>
            <a:ext cx="324703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ขั้นที่ 9 → 3 เกิดขึ้นจริงแล้ว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25112"/>
            <a:ext cx="10911535" cy="1737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รอบที่สอง: ทีมกำกับข้อมูลเพิ่มแล้ว export ใหม่ →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2,489 ภาพ · 24,421 กรอบ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(จากเดิม 2,190 ภาพ · 22,957 กรอบ)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webapp/state.json · results_reannot_boxsize/box_size_by_class.md · D:\ml\data\ssid9_reannot_resplit (1,792 / 448 / 249)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34440" y="2468880"/>
            <a:ext cx="96012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Literature Review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เป้าหมาย: หลังจบส่วนนี้ กรรมการต้องอ่านคำว่า mAP50, bounding box, YOLO ได้ โดยไม่ต้องเดา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1 ·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การตรวจจับวัตถุคืออะไร ต่างจากการจำแนกภาพยังไง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5250027" cy="393192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5250027" cy="50292"/>
          </a:xfrm>
          <a:prstGeom prst="rect">
            <a:avLst/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466481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การจำแนกภาพ (classification)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33472"/>
            <a:ext cx="4664811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ถาม: "ภาพนี้คืออะไร"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ตอบ: หนึ่งคำตอบต่อภาพ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ไม่รู้ตำแหน่ง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1587" y="1444752"/>
            <a:ext cx="5250027" cy="393192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1587" y="1444752"/>
            <a:ext cx="5250027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94195" y="1719072"/>
            <a:ext cx="466481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การตรวจจับวัตถุ (object detection)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4195" y="2633472"/>
            <a:ext cx="4664811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ถาม: "ในภาพมีอะไรบ้าง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และอยู่ตรงไหน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"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ตอบ: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หลายกรอบต่อภาพ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แต่ละกรอบมีชนิด + ค่าความเชื่อมั่น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รู้ตำแหน่งเป็นพิกัดสี่เหลี่ยม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5955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โจทย์ของเราเป็นแบบขวา เพราะเฟรมหนึ่งมีทั้งมือ เครื่องมือ และบาดแผลอยู่พร้อมกัน และต้องรู้ตำแหน่งเทียบกับแผล ไม่ใช่แค่รู้ว่า "ภาพนี้กำลังเย็บแผล"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1 ·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โครงสร้างของระบบตรวจจับวัตถุแบบทั่วไป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A4-yolo11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634" y="1444752"/>
            <a:ext cx="8578426" cy="4087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60527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ภาพเข้า → Backbone (สกัดลักษณะเด่น) → Head (ทำนายกรอบ + ชนิด) → กรอบ + คลาส + ค่าความเชื่อมั่น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1 ·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ตระกูลแบบจำลองที่พิจารณา และทำไมเลือก YOLO11n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44752"/>
          <a:ext cx="10911533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00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6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8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84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6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ตระกูล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กลไก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ความแม่นยำ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ความเร็ว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เหมาะกับ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R-CNN / Faster R-CNN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เสนอตำแหน่งก่อน แล้วจำแนก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สูงสุด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ช้าสุด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งานออฟไลน์ที่เน้นความแม่น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R-FCN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ROI pooling ที่ไวต่อตำแหน่ง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สูง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กลาง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สมดุลความเร็ว/ความแม่น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SSD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single-shot หลายสเกล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กลาง-สูง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เร็ว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ช้ากว่า YOLO แต่แม่นกว่า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YOLO11n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single-shot ทำนายครั้งเดียว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กลาง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เร็วสุด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งานที่ต้องรันบนเครื่องจำกัด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511296"/>
            <a:ext cx="10911535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เอกสารอ้างอิงมาตรฐานของ trade-off นี้: *Speed/accuracy trade-offs for modern convolutional object detectors* (arXiv 1611.10012)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ทำไมเลือก YOLO11n เจาะจง: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การ์ดจอมี VRAM แค่ 4 GB · แผน deploy เป็น CPU-only · ต้องฝึกซ้ำหลายรอบเพื่อทำ A/B ·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ผลจริง: รันบน CPU ได้ 5.59 เฟรม/วินาที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(วัดเอง 14 ส.ค. 2569)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results_960/inference_benchmark.md · assets/results-comparison/val/hyperparameter_summary.md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1 ·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ศัพท์ที่จะใช้ตลอดการนำเสนอ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44752"/>
          <a:ext cx="10911534" cy="30723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4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คำ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ความหมายแบบสั้นที่สุด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bounding box (กรอบ)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สี่เหลี่ยมที่ล้อมวัตถุหนึ่งชิ้น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class (คลาส)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ชนิดของวัตถุ เช่น needle, forcep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confidence (ค่าความเชื่อมั่น)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โมเดลมั่นใจแค่ไหนว่ากรอบนี้ถูก · เว็บแอปตั้งเกณฑ์ไว้ที่ 0.25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epoch (รอบ)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การให้โมเดลดูข้อมูลฝึกครบทุกภาพหนึ่งรอบ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imgsz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ความละเอียดภาพที่ใช้ตอนฝึก/ทำนาย (640 หรือ 960 พิกเซล)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augmentation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การดัดแปลงภาพฝึกเพื่อเพิ่มความหลากหลาย (พลิก ย่อขยาย เปลี่ยนสี)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train / val / test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ชุดฝึก / ชุดปรับ / ชุดทดสอบที่โมเดลไม่เคยเห็น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34440" y="2468880"/>
            <a:ext cx="96012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ขยายขั้นที่ 6 ของผัง W-1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2 ·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สถาปัตยกรรม YOLO11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A4-yolo11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86184"/>
            <a:ext cx="4480560" cy="21348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23560" y="1536192"/>
            <a:ext cx="592805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Backbone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สกัดลักษณะเด่นจากภาพ ลดขนาดลงเรื่อย ๆ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Neck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รวมลักษณะเด่นจากหลายความละเอียดเข้าด้วยกัน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Head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ทำนายกรอบและคลาสที่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3 ระดับ: P3 (80×80) · P4 (40×40) · P5 (20×20)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1600" b="1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P3 คือชั้นที่วัตถุเล็กต้องพึ่ง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← จำแผ่นนี้ไว้ จะใช้อีกครั้งตอนพูดเรื่อง needle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รูป ก4 · 05_reports/diagrams-svg/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2 ·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ขนาดของแบบจำลองที่ใช้จริง และฟังก์ชันสูญเสีย 3 ส่วน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3466490" cy="1783080"/>
          </a:xfrm>
          <a:prstGeom prst="roundRect">
            <a:avLst>
              <a:gd name="adj" fmla="val 6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810512"/>
            <a:ext cx="324703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182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706624"/>
            <a:ext cx="324703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ชั้น (layers)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2602" y="1444752"/>
            <a:ext cx="3466490" cy="1783080"/>
          </a:xfrm>
          <a:prstGeom prst="roundRect">
            <a:avLst>
              <a:gd name="adj" fmla="val 6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72330" y="1810512"/>
            <a:ext cx="324703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2,591,595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2330" y="2706624"/>
            <a:ext cx="324703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พารามิเตอร์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5124" y="1444752"/>
            <a:ext cx="3466490" cy="1783080"/>
          </a:xfrm>
          <a:prstGeom prst="roundRect">
            <a:avLst>
              <a:gd name="adj" fmla="val 6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94852" y="1810512"/>
            <a:ext cx="324703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C97A00"/>
                </a:solidFill>
                <a:latin typeface="Leelawadee UI"/>
                <a:ea typeface="Leelawadee UI"/>
                <a:cs typeface="Leelawadee UI"/>
              </a:rPr>
              <a:t>6.5 → 14.8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4852" y="2706624"/>
            <a:ext cx="324703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GFLOPs เมื่อขึ้นจาก 640 เป็น 960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47872"/>
            <a:ext cx="10911535" cy="2514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ตัวเลขทั้งหมดยืนยันสดจาก </a:t>
            </a:r>
            <a:r>
              <a:rPr sz="13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model.info()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บนไฟล์ </a:t>
            </a:r>
            <a:r>
              <a:rPr sz="13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.pt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จริง ไม่ได้คัดลอกจากเอกสาร ·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ต้นทุนการคำนวณเพิ่มขึ้น 2.3 เท่าเมื่อเพิ่มความละเอียด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YOLO11 วัดความผิดพลาดสามอย่างพร้อมกันตอนฝึก: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box loss (CIoU) · cls loss (BCE) · dfl loss —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ไม่มี objectness loss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(อันนั้นเป็นของ YOLOv5/v7 — มีผลกับการอ่านกราฟ loss ในส่วนที่ 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model.info() บน models/ssid9_960px_150ep_20260813_map50-716.pt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2 ·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ข้อจำกัดของ YOLO ที่รู้กันอยู่แล้วในวรรณกรรม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44752"/>
            <a:ext cx="1091153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YOLO มีจุดอ่อนที่รู้กันมาตั้งแต่รุ่นแรก — และจุดอ่อนข้อแรกคือปัญหาที่เราเจอพอดี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1600" b="1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⚠️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กลุ่มของวัตถุขนาดเล็ก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จับได้ยาก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อัตราส่วนกว้าง-ยาวที่ผิดปกติ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วัตถุยาวเรียวมาก generalize ได้ไม่ดี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localization error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ปฏิบัติกับความคลาดเคลื่อนของกล่องเล็กเท่ากับกล่องใหญ่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เข็มเย็บแผลตรงกับทั้งสามข้อ: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เล็ก · ยาวเรียว · มักอยู่ใกล้กันหลายชิ้น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2 ·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ผังงานการอนุมาน — การกรองเกิดสองชั้น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A8-flowchart-inf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15132"/>
            <a:ext cx="4480560" cy="32769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23560" y="1536192"/>
            <a:ext cx="592805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ชั้นที่ 1: ultralytics กรองด้วยเกณฑ์ต่ำสุดร่วม (</a:t>
            </a:r>
            <a:r>
              <a:rPr sz="15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conf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ต่ำ) + NMS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ชั้นที่ 2: โค้ดของเรากรอง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รายคลาส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ตั้งเกณฑ์ต่างกันได้ต่อคลาส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เหตุผล: ปล่อยให้ </a:t>
            </a:r>
            <a:r>
              <a:rPr sz="15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needle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ผ่านที่เกณฑ์ต่ำได้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โดยไม่ทำให้คลาสอื่นท่วมด้วยผลผิด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รูป ก8 · 01_frame-extractor-tool/detector.py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34440" y="2468880"/>
            <a:ext cx="96012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Data Collection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ขยายขั้นที่ 1-5 ของผัง W-1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3 · 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การเก็บและสกัดข้อมูล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B8-flowchart-extr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257" y="1444752"/>
            <a:ext cx="2150204" cy="4617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23560" y="1536192"/>
            <a:ext cx="592805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แบ่งวิดีโอเป็น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ช่วงเวลา (slot)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แล้วเลือกเฟรมที่ดีที่สุดของแต่ละช่วง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ปฏิเสธ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ภาพเบลอ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วัดด้วย Laplacian variance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ปฏิเสธ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ภาพซ้ำ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เทียบกับเฟรมที่บันทึกแล้วด้วย motion IoU / frame diff / pHash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เฟรมไม่ผ่านเกณฑ์ →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ไม่ทิ้งทั้งช่วง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แต่ลองเฟรมถัดไปในช่วงเดิม ได้สูงสุด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5 ครั้งต่อช่วง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รูป ข8 · 01_frame-extractor-tool/frame_extractor.py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3 · 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วัตถุเป้าหมาย 9 คลาส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A3-class-taxon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618" y="1444752"/>
            <a:ext cx="8870458" cy="4087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60527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คลาส Tip_* แยก "ปลายเครื่องมือ" ออกจากตัวเครื่องมือ — เพราะปลายคือจุดที่สัมผัสแผลจริง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รูป ก3 · 05_reports/diagrams-svg/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3 · 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ชุดข้อมูลมีสองรุ่น — ต้องไม่สับสน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5250027" cy="461772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5250027" cy="50292"/>
          </a:xfrm>
          <a:prstGeom prst="rect">
            <a:avLst/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466481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รุ่นที่ 1 — ใช้ฝึกแบบจำลองหลัก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33472"/>
            <a:ext cx="4664811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2,190 ภาพ · 22,957 กรอบ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train 1,575 / val 400 / test 215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เป็นที่มาของผลทุกตัวในส่วนที่ 5 ช่วงแรก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1587" y="1444752"/>
            <a:ext cx="5250027" cy="461772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1587" y="1444752"/>
            <a:ext cx="5250027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94195" y="1719072"/>
            <a:ext cx="466481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รุ่นที่ 2 — re-annotated (รอบที่สองของวงจร)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4195" y="2633472"/>
            <a:ext cx="4664811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2,489 ภาพ · 24,421 กรอบ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train 1,792 / val 448 / test 249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เป็นที่มาของโมเดลหลักที่นำเสนอผลตั้งแต่แผ่น 5-5 เป็นต้นไป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97A00"/>
                </a:solidFill>
                <a:latin typeface="Leelawadee UI"/>
                <a:ea typeface="Leelawadee UI"/>
                <a:cs typeface="Leelawadee UI"/>
              </a:rPr>
              <a:t>⚠ สองรุ่นนี้แบ่ง train/val/test คนละครั้ง — ตัวเลข mAP ของสองรุ่นจึงวัดบนชุดตรวจสอบคนละชุด เทียบกันตรง ๆ ไม่ได้ จะอธิบายอีกครั้งตอนถึงแผ่นนั้น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source-docs/abstract-2026-08-12.md · results_boxsize/box_size_by_class.md · results_reannot_boxsize/box_size_by_class.md · D:\ml\data\ssid9_reannot_resplit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3 · 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ความไม่สมดุลของคลาสต่างกันสามอันดับ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44752"/>
          <a:ext cx="10911534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061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9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คลาส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จำนวนกรอบ (ทุก split)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finger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9,884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needle_holder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2,729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wound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2,463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needle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1,944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hand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1,884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forcep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1,754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Tip_needle_holder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1,467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Tip_forcep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803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Stitch Scissors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29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431536"/>
            <a:ext cx="1091153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finger มีกรอบมากกว่า Stitch Scissors ประมาณ 340 เท่า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· Stitch Scissors มี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16 / 10 / 3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กรอบ ใน train / val / test — น้อยเกินกว่าจะสรุปอะไรได้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assets/results-960/val/class_distribution.md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3 · 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ข้อบกพร่องของป้ายกำกับที่เจอก่อนฝึก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A2-label-def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994" y="1444752"/>
            <a:ext cx="9223706" cy="4087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60527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ไฟล์ที่ export ออกมามีทั้งกรอบสี่เหลี่ยมและรูปหลายเหลี่ยมปนกัน — 8,047 กรอบผิด จาก 623 ไฟล์ ใน 2,190 ไฟล์ · ตรวจพบก่อนฝึก → ไม่มีผลต่อผลการทดลองที่รายงานวันนี้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รูป ก2 · 01_frame-extractor-tool/polygons_to_bboxes.py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3 · 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ผังงานการทำความสะอาดป้ายกำกับ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A6-flowchart-label-clea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38392"/>
            <a:ext cx="4480560" cy="38304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23560" y="1536192"/>
            <a:ext cx="592805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อ่านไฟล์ → นับจำนวนตัวเลขต่อบรรทัด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เป็นกรอบอยู่แล้ว? ผ่าน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เป็น polygon? แปลงเป็นกรอบครอบ (min/max) แล้วนับ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รูปแบบไม่รู้จัก?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บันทึกไว้และรายงาน ไม่ทิ้งเงียบ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รูป ก6 · 05_reports/diagrams-svg/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34440" y="2468880"/>
            <a:ext cx="96012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4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Model Training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ขยายขั้นที่ 6 ของผัง W-1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4 · Model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ผังงานการฝึก — best.pt กับ last.pt ไม่ใช่ไฟล์เดียวกัน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A7-flowchart-trai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05315"/>
            <a:ext cx="4480560" cy="3496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23560" y="1536192"/>
            <a:ext cx="592805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5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last.pt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= น้ำหนักของรอบสุดท้าย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5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best.pt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= น้ำหนักของรอบที่ทำคะแนนดีที่สุด (เลือกด้วย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fitness = 0.1×mAP50 + 0.9×mAP50-95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)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(สองตัวชี้วัดนี้อธิบายละเอียดในแผ่นแรกของส่วนที่ 5)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ทุกตัวเลขที่รายงานวันนี้มาจากการวัด `best.pt` ซ้ำ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ไม่ใช่ตัวเลขที่ปรากฏใน log ตอนฝึก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รูป ก7 · 01_frame-extractor-tool/report_training_results.py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4 · Model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การตั้งค่าและฮาร์ดแวร์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5250027" cy="393192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5250027" cy="50292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466481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ไฮเปอร์พารามิเตอร์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33472"/>
            <a:ext cx="4664811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epochs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150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imgsz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960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batch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8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seed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42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(ทุกรอบเท่ากัน)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optimizer </a:t>
            </a:r>
            <a:r>
              <a:rPr sz="13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auto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· lr0/lrf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0.01/0.01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momentum 0.937 · AMP เปิด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1587" y="1444752"/>
            <a:ext cx="5250027" cy="393192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1587" y="1444752"/>
            <a:ext cx="5250027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94195" y="1719072"/>
            <a:ext cx="466481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ฮาร์ดแวร์และสภาพแวดล้อม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4195" y="2633472"/>
            <a:ext cx="4664811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GPU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NVIDIA RTX 3050 Laptop · 4 GB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เวลาฝึกรอบ 960 =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97.9 นาที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3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workers=0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เคยชนขีดจำกัดหน่วยความจำเสมือน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ฝึกบนเครื่องส่วนบุคคล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ไม่ใช้ Colab / GPU เช่า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VS Code + Jupyter Notebook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torch </a:t>
            </a:r>
            <a:r>
              <a:rPr sz="13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2.13.0+cu126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5955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ค่าที่ปรับเองมีไม่กี่ตัว ที่เหลือคือค่าเริ่มต้นของ Ultralytics — ไม่มีการจูนแบบเดา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assets/results-comparison/val/hyperparameter_summary.md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4 · Model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การออกแบบการทดลองแบบ A/B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A5-ab-experi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664" y="1444752"/>
            <a:ext cx="8908366" cy="4087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60527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คุมให้เท่ากันหมด: ชุดข้อมูล · น้ำหนักตั้งต้น (yolo11n.pt) · จำนวนรอบ (50) · batch (8) · ขนาดภาพ (640) · seed (42) —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ต่างกันข้อเดียว: เปิด/ปิด augmentation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รูป ก5 · assets/results-comparison/val/hyperparameter_summary.md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4 · Model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ปัญหาที่เจอระหว่างพัฒนา และวิธีแก้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44752"/>
            <a:ext cx="1091153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สี่เรื่องนี้เกิดขึ้นจริง ไม่ใช่สิ่งที่คาดว่าจะเกิด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1600" b="1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1. การฝึกรอบ 960 ถูกขัดจังหวะที่รอบ 115 จาก 150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→ สั่งฝึกต่อจาก </a:t>
            </a:r>
            <a:r>
              <a:rPr sz="15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last.pt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ของตัวเอง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ยังเป็นการฝึก 150 รอบชุดเดียวกัน ไม่ใช่เริ่มจากโมเดลอื่น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2. เคยสรุปผิดว่าเว็บแอปเสิร์ฟโมเดล 960 ที่ความละเอียด 640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→ ไปวัดจริง 30 เฟรม พบว่าสรุปผิด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แล้วแก้เอกสารย้อนหลังทุกที่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3. ป้ายกำกับปนกันระหว่างกรอบกับรูปหลายเหลี่ยม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→ เงียบ ไม่มี error (ส่วนที่ 3)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4. หน่วยความจำเสมือนชนขีดจำกัด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ตอนลองใช้ dataloader หลาย worker → ตั้ง </a:t>
            </a:r>
            <a:r>
              <a:rPr sz="15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workers=0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commit ac63674 · f367aa1 · baf1175 · รูป ก2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34440" y="2468880"/>
            <a:ext cx="96012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Model Result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ขยายขั้นที่ 7 ของผัง W-1 · ส่วนที่ยาวที่สุด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5 · Model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อ่านตัวชี้วัดยังไง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44752"/>
          <a:ext cx="10911533" cy="23042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45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3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1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ตัวชี้วัด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ถามว่าอะไร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ตัวอย่างจากงานนี้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IoU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กรอบที่ทำนายซ้อนทับกรอบจริงกี่เปอร์เซ็นต์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IoU 0.5 = ซ้อนทับครึ่งหนึ่ง = "ถูกแบบคร่าว ๆ"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precision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ในสิ่งที่โมเดลบอกว่าเจอ ถูกกี่ 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0.73 = บอกว่าเจอ 100 อัน ถูกจริง 73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recall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ในของที่มีอยู่จริง โมเดลเจอกี่ %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needle 0.36 = มีเข็ม 100 อัน เจอ 36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mAP50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ค่าเฉลี่ยความแม่นที่ IoU 0.50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ตัวอย่าง: 0.7160 (รอบ aug960, รวม Stitch Scissors)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mAP50-95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เฉลี่ยตั้งแต่ IoU 0.50 ถึง 0.95 → วัดคุณภาพการวางตำแหน่ง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0.4532 — ต่ำกว่าเสมอ เพราะเกณฑ์เข้มกว่ามาก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895344"/>
            <a:ext cx="1091153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mAP50 บอกว่า "เจอไหม" · mAP50-95 บอกว่า "กรอบตรงแค่ไหน"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สองอย่างนี้ขยับไม่พร้อมกันเสมอไป และในงานนี้มันขยับไม่พร้อมกันจริง ๆ (แผ่นถัดไป)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ตัวเลขตัวอย่างในตารางมาจาก assets/results-960/val/aug960_overall_metrics.md และ aug960_per_class_metrics.md · นิยามตัวชี้วัดตาม COCO evaluation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5 · Model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augmentation ชนะขาด และดีขึ้นทุกคลาส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5250027" cy="393192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5250027" cy="50292"/>
          </a:xfrm>
          <a:prstGeom prst="rect">
            <a:avLst/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466481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ปิด augmentation (noaug · 50 รอบ · 640)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33472"/>
            <a:ext cx="4664811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mAP50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0.5746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mAP50-95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0.3245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precision 0.6985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recall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0.5417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1587" y="1444752"/>
            <a:ext cx="5250027" cy="393192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1587" y="1444752"/>
            <a:ext cx="5250027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94195" y="1719072"/>
            <a:ext cx="466481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เปิด augmentation (aug · 50 รอบ · 640)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4195" y="2633472"/>
            <a:ext cx="4664811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mAP50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0.6559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mAP50-95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0.4007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precision 0.6872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recall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0.6641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5955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ดีขึ้นทุกคลาส ไม่มีคลาสไหนแย่ลง — ซึ่งค้านสมมติฐานที่พวกเราตั้งไว้เองว่า mosaic augmentation น่าจะทำร้ายวัตถุขนาดเล็ก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assets/results-comparison/val/benchmark_comparison.md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5 · Model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หลักฐานว่าแขนที่ปิด augmentation เกิด overfitting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comparison_map50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6309" y="1444752"/>
            <a:ext cx="6179075" cy="4087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60527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แขนที่เปิด augmentation ยังดีขึ้นจนรอบสุดท้าย (50/50) → ยังมีที่ให้ไปต่อ — นี่คือเหตุผลที่ตัดสินใจฝึกยาว 150 รอบในรอบถัดไป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assets/results-comparison/val/comparison_map50_curves.png · benchmark_comparison.md (best_epoch)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5 · Model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เทียบทั้งสี่รอบ — 640 กับ 960 คะแนนรวมเท่ากัน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44752"/>
          <a:ext cx="10911531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46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5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25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5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06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86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25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รอบการทดลอง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mAP50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mAP50-95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precision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recall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รอบ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เวลา (นาที)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noaug · 640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0.5746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0.3245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0.6985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0.5417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50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43.5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aug · 640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0.6559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0.4007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0.6872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0.6641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50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49.7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aug150 · 640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0.7163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0.4366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0.7702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0.7090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150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162.6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aug960 · 960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0.7160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0.4532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0.7335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0.7173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150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97.9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511296"/>
            <a:ext cx="1091153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0.7163 เทียบกับ 0.7160 — แทบไม่ต่างกันเลย เพิ่มความละเอียดแล้ว mAP50 ไม่ขึ้น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สิ่งที่ 960 ได้เพิ่มคือ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mAP50-95 (0.4366 → 0.4532)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และ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recall ของ needle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97A00"/>
                </a:solidFill>
                <a:latin typeface="Leelawadee UI"/>
                <a:ea typeface="Leelawadee UI"/>
                <a:cs typeface="Leelawadee UI"/>
              </a:rPr>
              <a:t>⚠ ทุกแถวรวม Stitch Scissors ที่มี 16 กรอบอยู่ด้วย — ตัดออก รอบ 960 เหลือ 0.6990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assets/results-comparison/val/benchmark_comparison.md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5 · Model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ผลรายคลาสเทียบทั้งสี่รอบ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comparison_per_class_map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724" y="1444752"/>
            <a:ext cx="6304245" cy="4087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60527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คลาสที่ได้ประโยชน์จากความละเอียด คือคลาสที่วัตถุเล็ก — คลาสที่วัตถุใหญ่แทบไม่ขยับ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assets/results-comparison/val/comparison_per_class_map50.png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5 · Model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แบบจำลองที่ดีที่สุด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44752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baseline9-reannot · YOLO11n · 150 รอบ · imgsz 960 · batch 8 · seed 42 · ชุดข้อมูล re-annotated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21992"/>
            <a:ext cx="2535859" cy="1783080"/>
          </a:xfrm>
          <a:prstGeom prst="roundRect">
            <a:avLst>
              <a:gd name="adj" fmla="val 6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587752"/>
            <a:ext cx="2316403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0.7225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483864"/>
            <a:ext cx="23164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mAP50 · ชุดตรวจสอบ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31971" y="2221992"/>
            <a:ext cx="2535859" cy="1783080"/>
          </a:xfrm>
          <a:prstGeom prst="roundRect">
            <a:avLst>
              <a:gd name="adj" fmla="val 6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41699" y="2587752"/>
            <a:ext cx="2316403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0.4444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1699" y="3483864"/>
            <a:ext cx="23164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mAP50-95 · ชุดตรวจสอบ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3863" y="2221992"/>
            <a:ext cx="2535859" cy="1783080"/>
          </a:xfrm>
          <a:prstGeom prst="roundRect">
            <a:avLst>
              <a:gd name="adj" fmla="val 6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3591" y="2587752"/>
            <a:ext cx="2316403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0.7212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3591" y="3483864"/>
            <a:ext cx="23164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mAP50 · ชุดทดสอบ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15755" y="2221992"/>
            <a:ext cx="2535859" cy="1783080"/>
          </a:xfrm>
          <a:prstGeom prst="roundRect">
            <a:avLst>
              <a:gd name="adj" fmla="val 6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25483" y="2587752"/>
            <a:ext cx="2316403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0.4352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483" y="3483864"/>
            <a:ext cx="23164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mAP50-95 · ชุดทดสอบ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25112"/>
            <a:ext cx="10911535" cy="1737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ชุดตรวจสอบ precision 0.7359 / recall 0.7290 · ชุดทดสอบ precision 0.7158 / recall 0.7645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นี่คือโมเดลที่ทีมเลือกใช้ต่อจากนี้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ฝึกจากชุดข้อมูลที่กำกับเพิ่มแล้ว (2,489 ภาพ ใหญ่กว่าเดิม) เหตุผลที่เลือกคือข้อมูลใหม่กว่า/เยอะกว่า และ needle recall ดีขึ้นชัดเจนบนชุดของตัวเอง (ดูแผ่นถัดไป)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97A00"/>
                </a:solidFill>
                <a:latin typeface="Leelawadee UI"/>
                <a:ea typeface="Leelawadee UI"/>
                <a:cs typeface="Leelawadee UI"/>
              </a:rPr>
              <a:t>⚠ ชุดนี้แบ่ง val/test ใหม่คนละชุดกับรอบก่อนหน้า (aug960 0.7160 รวม Stitch Scissors) — เทียบตรง ๆ ทางสถิติไม่ได้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assets/results-reannot/val/benchmark_comparison.md · assets/results-reannot/val/baseline9-reannot_overall_metrics.md · assets/results-reannot/test/baseline9-reannot_overall_metrics.md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5 · Model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ผลรายคลาสของแบบจำลองที่ดีที่สุด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44752"/>
          <a:ext cx="10911533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52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9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9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98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98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คลาส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กรอบ (val)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precision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recall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mAP50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Stitch Scissors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6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1.0000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0.7808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0.9721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Tip_needle_holder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312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0.7141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0.8590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0.8200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needle_holder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575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0.7764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0.7930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0.8100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finger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1,924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0.6952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0.7931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0.7608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Tip_forcep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158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0.7006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0.8101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0.7467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forcep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352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0.7972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0.7017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0.7236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wound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487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0.7179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0.5747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0.6819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hand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371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0.5832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0.8260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0.5978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needle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376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0.6388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0.4229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0.3893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assets/results-reannot/val/baseline9-reannot_per_class_metrics.md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5 · Model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Confusion matrix — needle ไม่ได้ถูกสับสน แต่ถูก "มองไม่เห็น"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44752"/>
            <a:ext cx="5336895" cy="4617720"/>
          </a:xfrm>
          <a:prstGeom prst="rect">
            <a:avLst/>
          </a:prstGeom>
          <a:solidFill>
            <a:srgbClr val="F5F6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6" name="Picture 5" descr="baseline9-reannot_confusion_matrix_normaliz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357" y="1508760"/>
            <a:ext cx="4810340" cy="41970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1" y="5751576"/>
            <a:ext cx="51905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แบบสัดส่วน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4719" y="1444752"/>
            <a:ext cx="5336895" cy="4617720"/>
          </a:xfrm>
          <a:prstGeom prst="rect">
            <a:avLst/>
          </a:prstGeom>
          <a:solidFill>
            <a:srgbClr val="F5F6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9" name="Picture 8" descr="baseline9-reannot_confusion_matrix_ra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8651" y="1508760"/>
            <a:ext cx="4929032" cy="41970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87871" y="5751576"/>
            <a:ext cx="51905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แบบจำนวนจริง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assets/results-reannot/val/baseline9-reannot_confusion_matrix_normalized.png · assets/results-reannot/val/baseline9-reannot_confusion_matrix_raw.png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5 · Model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กราฟ Precision-Recall และ F1-confidence — จุดทำงานของระบบ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44752"/>
            <a:ext cx="5336895" cy="4617720"/>
          </a:xfrm>
          <a:prstGeom prst="rect">
            <a:avLst/>
          </a:prstGeom>
          <a:solidFill>
            <a:srgbClr val="F5F6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6" name="Picture 5" descr="baseline9-reannot_pr_curve_per_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884509"/>
            <a:ext cx="5208879" cy="34455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1" y="5751576"/>
            <a:ext cx="51905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PR curve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4719" y="1444752"/>
            <a:ext cx="5336895" cy="4617720"/>
          </a:xfrm>
          <a:prstGeom prst="rect">
            <a:avLst/>
          </a:prstGeom>
          <a:solidFill>
            <a:srgbClr val="F5F6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9" name="Picture 8" descr="baseline9-reannot_f1_confidence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727" y="1884509"/>
            <a:ext cx="5208879" cy="34455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87871" y="5751576"/>
            <a:ext cx="51905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F1-confidence curve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assets/results-reannot/val/baseline9-reannot_pr_curve_per_class.png · assets/results-reannot/val/baseline9-reannot_f1_confidence_curve.png · webapp/static/app.js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5 · Model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กราฟ loss สามเส้น และ learning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44752"/>
            <a:ext cx="5336895" cy="4617720"/>
          </a:xfrm>
          <a:prstGeom prst="rect">
            <a:avLst/>
          </a:prstGeom>
          <a:solidFill>
            <a:srgbClr val="F5F6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6" name="Picture 5" descr="baseline9-reannot_loss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884509"/>
            <a:ext cx="5208879" cy="34455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1" y="5751576"/>
            <a:ext cx="51905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box / cls / dfl loss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4719" y="1444752"/>
            <a:ext cx="5336895" cy="4617720"/>
          </a:xfrm>
          <a:prstGeom prst="rect">
            <a:avLst/>
          </a:prstGeom>
          <a:solidFill>
            <a:srgbClr val="F5F6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9" name="Picture 8" descr="baseline9-reannot_lr_schedu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727" y="1947573"/>
            <a:ext cx="5208879" cy="331946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87871" y="5751576"/>
            <a:ext cx="51905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learning rate schedule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assets/results-reannot/val/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5 · Model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Learning curve — mAP ต่อรอบการฝึก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baseline9-reannot_learning_curve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6309" y="1444752"/>
            <a:ext cx="6179075" cy="4087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60527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คะแนนนิ่งตั้งแต่ราวรอบ 60-70 แล้ว — best.pt ที่ fitness สูงสุดมาจากรอบที่ 100 ไม่ใช่รอบสุดท้าย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assets/results-reannot/val/baseline9-reannot_learning_curve_map.png · assets/results-reannot/val/benchmark_comparison.md (best_epoch)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5 · Model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ตัวอย่างภาพที่แบบจำลองทำผิด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baseline9-reannot_error_analysis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781" y="1444752"/>
            <a:ext cx="9400132" cy="4087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60527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ภาพที่พลาดมากที่สุดคือฉากที่มีมือและนิ้วซ้อนกันหนาแน่น — กรอบ finger จำนวนมากในพื้นที่แคบ (เขียวทึบ = กรอบจริง · ส้มประ = กรอบที่ทำนาย)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assets/results-reannot/val/baseline9-reannot_error_analysis_grid.png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34440" y="155448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5 · Model Result · เจาะลึก needle ขั้นที่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011680"/>
            <a:ext cx="96012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6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80.9%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0"/>
            <a:ext cx="96012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ของกรอบ needle เล็กกว่าเกณฑ์ "วัตถุขนาดเล็ก" ของ COCO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ด้านสั้นมัธยฐานของ needle = 12.4 พิกเซล ที่ขนาดภาพ 640 เทียบกับ needle_holder ที่ 111.9 พิกเซล และ hand ที่ 128.7 พิกเซล
ก่อนจะแก้ปัญหา เราวัดมันก่อน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30936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assets/results-boxsize/box_size_by_class.md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5 · Model Result · เจาะลึก needle ขั้นที่ 2-3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เจาะลึก needle · ขั้นที่ 2-3 — ตั้งสมมติฐาน แล้วทดสอบ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5250027" cy="393192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5250027" cy="50292"/>
          </a:xfrm>
          <a:prstGeom prst="rect">
            <a:avLst/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466481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imgsz 640 (aug150 · 150 รอบ)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33472"/>
            <a:ext cx="4664811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needle recall (val)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0.2435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needle recall (test)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0.2513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needle mAP50 (val)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0.3047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mAP50 รวม 0.7163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1587" y="1444752"/>
            <a:ext cx="5250027" cy="393192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1587" y="1444752"/>
            <a:ext cx="5250027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94195" y="1719072"/>
            <a:ext cx="466481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imgsz 960 (aug960 · 150 รอบ · เปลี่ยนแค่ขนาดภาพ)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4195" y="2633472"/>
            <a:ext cx="4664811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needle recall (val)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0.3579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needle recall (test)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0.3351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needle mAP50 (val)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0.3603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mAP50 รวม 0.7160 *(เท่าเดิม — รวม Stitch Scissors)*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5955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สมมติฐาน: ถ้าเป็นปัญหาขนาด การเพิ่มความละเอียดต้องช่วย และต้องช่วยคลาสเล็กมากกว่าคลาสใหญ่ — คลาสที่ด้านสั้นเกิน 27 พิกเซล ขยับไม่ถึง 0.02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assets/results-comparison/{val,test}/*_per_class_metrics.md · results-boxsize/box_size_by_class.md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5 · Model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รอบที่สองของข้อมูล — กำกับเพิ่มแล้วได้อะไร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44752"/>
          <a:ext cx="10911533" cy="34564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80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6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2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1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ชุดเดิม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ชุด re-annotated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เพิ่ม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ภาพ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2,190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2,489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+299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กรอบทั้งหมด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22,957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24,421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+1,464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needle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1,944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2,050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+106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wound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2,463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2,739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+276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needle_holder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2,729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2,958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+229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Tip_needle_holder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1,467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1,691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+224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finger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9,884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10,332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+448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Stitch Scissors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36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+7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047488"/>
            <a:ext cx="10911535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3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needle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ยังเล็กเหมือนเดิม: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81.5%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ต่ำกว่าเกณฑ์ small · ด้านสั้นมัธยฐาน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12.3 px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โมเดล </a:t>
            </a:r>
            <a:r>
              <a:rPr sz="13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baseline9-reannot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ที่เห็นผลไปแล้วในแผ่นก่อนหน้าฝึกจากชุดข้อมูลนี้เอง — </a:t>
            </a:r>
            <a:r>
              <a:rPr sz="13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best.pt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มาจากรอบที่ 100/150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results_boxsize/box_size_by_class.md · results_reannot_boxsize/box_size_by_class.md · D:\ml\data\ssid9_reannot_resplit (1,792 / 448 / 249)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5 · Model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การทดลองคัดกรอง 4 แบบ — ตัดคลาสทิ้งไม่ช่วย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44752"/>
          <a:ext cx="10911533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55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6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1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85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แบบ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ชุดข้อมูลต่างยังไง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mAP50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mAP50-95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baseline9-reannot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9 คลาสครบ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0.7169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0.4312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drop-stitch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ตัด Stitch Scissors ออก เหลือ 8 คลาส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0.7062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0.4272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class5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เหลือ 5 คลาสแบบระยะที่ 1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0.6807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0.4310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balanced-finger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สุ่มลด finger ให้สมดุลขึ้น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0.5343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0.3006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511296"/>
            <a:ext cx="10911535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คำถาม: ถ้าชุดข้อมูลไม่สมดุล เราควรตัดคลาสที่มีน้อย หรือลดคลาสที่มีเยอะ ดีไหม?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ทดลอง 4 แบบบนชุด re-annotated ที่ 50 รอบ คุมให้ต่างกันแค่ชุดข้อมูล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ข้อสรุป: ทั้งการตัดคลาสและการลดตัวอย่าง ทำให้แย่ลงทั้งคู่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โดยเฉพาะการสุ่มลด finger ที่ทำให้คะแนนตกไป 18 จุด — เพราะภาพที่ถูกตัดออกมีคลาสอื่นติดไปด้วย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97A00"/>
                </a:solidFill>
                <a:latin typeface="Leelawadee UI"/>
                <a:ea typeface="Leelawadee UI"/>
                <a:cs typeface="Leelawadee UI"/>
              </a:rPr>
              <a:t>⚠ ตัวเลขชุดนี้วัดบนชุดตรวจสอบที่แบ่งใหม่ จึงเทียบกับ 0.7160 ของรอบเดิมตรง ๆ ไม่ได้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01_frame-extractor-tool/results_reannot_screening/benchmark_comparison.md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5 · Model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ผลบนชุดทดสอบ — ไม่มีสัญญาณ overfitting ผิดปกติ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44752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ชุดทดสอบคือชุดที่แบบจำลองไม่เคยเห็นเลยตลอดการฝึก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21992"/>
            <a:ext cx="2535859" cy="1783080"/>
          </a:xfrm>
          <a:prstGeom prst="roundRect">
            <a:avLst>
              <a:gd name="adj" fmla="val 6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587752"/>
            <a:ext cx="2316403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0.7212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483864"/>
            <a:ext cx="23164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mAP50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31971" y="2221992"/>
            <a:ext cx="2535859" cy="1783080"/>
          </a:xfrm>
          <a:prstGeom prst="roundRect">
            <a:avLst>
              <a:gd name="adj" fmla="val 6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41699" y="2587752"/>
            <a:ext cx="2316403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0.4352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1699" y="3483864"/>
            <a:ext cx="23164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mAP50-95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3863" y="2221992"/>
            <a:ext cx="2535859" cy="1783080"/>
          </a:xfrm>
          <a:prstGeom prst="roundRect">
            <a:avLst>
              <a:gd name="adj" fmla="val 6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3591" y="2587752"/>
            <a:ext cx="2316403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0.7158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3591" y="3483864"/>
            <a:ext cx="23164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precision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15755" y="2221992"/>
            <a:ext cx="2535859" cy="1783080"/>
          </a:xfrm>
          <a:prstGeom prst="roundRect">
            <a:avLst>
              <a:gd name="adj" fmla="val 6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25483" y="2587752"/>
            <a:ext cx="2316403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0.7645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483" y="3483864"/>
            <a:ext cx="23164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25112"/>
            <a:ext cx="10911535" cy="1737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ต่ำกว่าชุดตรวจสอบแค่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0.13 จุด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(0.7225 → 0.7212) — ใกล้กันกว่ารอบ aug960 เดิมที่ห่าง 1.5 จุด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needle บนชุดทดสอบ: recall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0.4000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· mAP50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0.3338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assets/results-reannot/test/baseline9-reannot_overall_metrics.md · assets/results-reannot/test/baseline9-reannot_per_class_metrics.md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34440" y="2468880"/>
            <a:ext cx="96012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Web Application Demonstration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ขยายขั้นที่ 2, 3, 5, 8, 9 ของผัง W-1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6 · Web Application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ทำไมโครงงานตรวจจับวัตถุถึงต้องมีเว็บแอป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44752"/>
            <a:ext cx="1091153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สามเหตุผล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และไม่มีข้อไหนเป็น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"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อยากทำ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"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1600" b="1" dirty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1.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เพราะกระบวนการเป็นวงจร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(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ผัง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W-1) —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โมเดลที่ฝึกเสร็จต้องกลับไปช่วยกำกับข้อมูล</a:t>
            </a:r>
            <a:endParaRPr sz="1600" b="0" dirty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</a:t>
            </a:r>
            <a:r>
              <a:rPr sz="15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รอบถัดไป</a:t>
            </a:r>
            <a:r>
              <a:rPr sz="15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5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ถ้าไม่มีเครื่องมือ</a:t>
            </a:r>
            <a:r>
              <a:rPr sz="15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5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วงจรจะขาดตรงขั้นที่ใช้แรงคนมากที่สุด</a:t>
            </a:r>
            <a:endParaRPr sz="1500" b="0" dirty="0">
              <a:solidFill>
                <a:srgbClr val="5C6B7A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2.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เพราะชุดข้อมูลของโครงงานนี้ผลิตด้วยเครื่องมือนี้เอง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4,761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เฟรม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· 28,240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กรอบ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(ณ 17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ส.ค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. 2569)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3.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เพราะรายงานระยะที่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1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ระบุเองว่าต้องมี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interface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ที่ผู้ไม่มีพื้นฐานเทคโนโลยีใช้ได้</a:t>
            </a:r>
            <a:endParaRPr sz="1600" b="0" dirty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webapp/state.json (4,761 / 28,240 · ณ 17 ส.ค. 2569) · รูป ก1 · รายงานผลการดำเนินงานระยะที่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6 · Web Application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เว็บแอปนี้คืออะไร ใครใช้ ใช้ยังไง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44752"/>
            <a:ext cx="1091153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เครื่องมือสำหรับสร้างชุดข้อมูลตรวจจับวัตถุ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ตั้งแต่วิดีโอจนถึงชุดข้อมูลพร้อมฝึก</a:t>
            </a:r>
            <a:endParaRPr sz="1600" b="1" dirty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1600" b="1" dirty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ผู้ใช้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: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ผู้ที่ต้องสร้างชุดข้อมูล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ในโครงงานนี้คือทีมของเราเอง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(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ออกแบบสำหรับผู้ใช้ทีละคน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เชื่อมกับโมเดลยังไง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: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อัปโหลดไฟล์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500" b="0" dirty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.pt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→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เลือกจากรายการโมเดล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→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เรียกใช้ผ่านหน้าเว็บ</a:t>
            </a:r>
            <a:endParaRPr sz="1600" b="0" dirty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</a:t>
            </a:r>
            <a:r>
              <a:rPr sz="15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โดย</a:t>
            </a:r>
            <a:r>
              <a:rPr sz="15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5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ไม่ต้องเขียนโค้ดหรือใช้</a:t>
            </a:r>
            <a:r>
              <a:rPr sz="15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command line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4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ขั้นตอนหลัก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เรียงเป็นลำดับเชิงเส้น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: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500" b="0" dirty="0" err="1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สกัดเฟรม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→ </a:t>
            </a:r>
            <a:r>
              <a:rPr sz="1500" b="0" dirty="0" err="1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ตรวจจับ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→ </a:t>
            </a:r>
            <a:r>
              <a:rPr sz="1500" b="0" dirty="0" err="1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กำกับข้อมูล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→ </a:t>
            </a:r>
            <a:r>
              <a:rPr sz="1500" b="0" dirty="0" err="1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ส่งออก</a:t>
            </a:r>
            <a:endParaRPr sz="1500" b="0" dirty="0">
              <a:solidFill>
                <a:srgbClr val="5C6B7A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รันบนเครื่องเดียว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เปิดผ่านเบราว์เซอร์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·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ไม่มีระบบเข้าสู่ระบบ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(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เปิดให้ใช้สาธารณะ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6 · Web Application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สถาปัตยกรรมระบบ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B1-system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635" y="1444752"/>
            <a:ext cx="7042424" cy="4087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60527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โปรแกรมเดสก์ท็อปเดิมกับเว็บแอปใหม่เป็น "ผู้ใช้" คนละตัวของโมดูลแกนกลางชุดเดียวกัน — ไม่มีตรรกะการตรวจจับซ้ำสองที่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รูป ข1 · 05_reports/diagrams-svg/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6 · Web Application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ขอบเขตระบบ (Context Diagram)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B3-context-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006" y="1444752"/>
            <a:ext cx="9809683" cy="4087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60527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มีตัวแทนภายนอกแค่ 2 ตัว — ผู้ใช้ และ Roboflow Cloud · Tesseract ไม่นับ เพราะรันในเครื่อง ไม่ได้ออกอินเทอร์เน็ต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รูป ข3 · 05_reports/diagrams-svg/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6 · Web Application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ผู้ใช้ทำอะไรได้บ้าง (Use Case)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B5-use-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5446" y="1444752"/>
            <a:ext cx="5700802" cy="4087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60527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เป้าหมายหลัก</a:t>
            </a:r>
            <a:r>
              <a:rPr sz="1400" b="0" dirty="0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 8 </a:t>
            </a:r>
            <a:r>
              <a:rPr sz="1400" b="0" dirty="0" err="1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อย่าง</a:t>
            </a:r>
            <a:r>
              <a:rPr sz="1400" b="0" dirty="0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400" b="0" dirty="0" err="1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โดย</a:t>
            </a:r>
            <a:r>
              <a:rPr sz="1400" b="0" dirty="0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 "</a:t>
            </a:r>
            <a:r>
              <a:rPr sz="1400" b="0" dirty="0" err="1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กำกับข้อมูลภาพ</a:t>
            </a:r>
            <a:r>
              <a:rPr sz="1400" b="0" dirty="0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" </a:t>
            </a:r>
            <a:r>
              <a:rPr sz="1400" b="0" dirty="0" err="1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มีรูปแบบย่อย</a:t>
            </a:r>
            <a:r>
              <a:rPr sz="1400" b="0" dirty="0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 3 </a:t>
            </a:r>
            <a:r>
              <a:rPr sz="1400" b="0" dirty="0" err="1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ชนิด</a:t>
            </a:r>
            <a:r>
              <a:rPr sz="1400" b="0" dirty="0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 — </a:t>
            </a:r>
            <a:r>
              <a:rPr sz="1400" b="0" dirty="0" err="1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กรอบสี่เหลี่ยม</a:t>
            </a:r>
            <a:r>
              <a:rPr sz="1400" b="0" dirty="0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 · </a:t>
            </a:r>
            <a:r>
              <a:rPr sz="1400" b="0" dirty="0" err="1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รูปหลายเหลี่ยม</a:t>
            </a:r>
            <a:r>
              <a:rPr sz="1400" b="0" dirty="0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 · </a:t>
            </a:r>
            <a:r>
              <a:rPr sz="1400" b="0" dirty="0" err="1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จุดสำคัญ</a:t>
            </a:r>
            <a:r>
              <a:rPr sz="1400" b="0" dirty="0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 (</a:t>
            </a:r>
            <a:r>
              <a:rPr sz="1400" b="0" dirty="0" err="1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keypoint</a:t>
            </a:r>
            <a:r>
              <a:rPr sz="1400" b="0" dirty="0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รูป ข5 · 05_reports/diagrams-svg/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6 · Web Application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การไหลของข้อมูล (DFD ระดับ 1)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B4-dfd-leve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2254" y="1444752"/>
            <a:ext cx="6067186" cy="4087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60527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state.json (D3) คือศูนย์กลาง — โพรเซสตรวจจับ กำกับข้อมูล และส่งออก อ่านและเขียนที่เดียวกัน จึงไม่มีสถานะซ้อนกันสองชุด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รูป ข4 · 05_reports/diagrams-svg/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6 · Web Application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โครงสร้างข้อมูล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B11-data-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885" y="1444752"/>
            <a:ext cx="5663924" cy="4087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60527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FRAME คือศูนย์กลาง — เป็นทั้งผลผลิตของการสกัดเฟรม เป้าหมายของการตรวจจับ และวัตถุของการกำกับข้อมูล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รูป ข11 · 05_reports/diagrams-svg/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6 · Web Application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ลำดับการทำงาน: สกัดเฟรม และ Label Assist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44752"/>
            <a:ext cx="5336895" cy="4617720"/>
          </a:xfrm>
          <a:prstGeom prst="rect">
            <a:avLst/>
          </a:prstGeom>
          <a:solidFill>
            <a:srgbClr val="F5F6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6" name="Picture 5" descr="B6-sequence-extr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738" y="1508760"/>
            <a:ext cx="5069577" cy="41970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1" y="5751576"/>
            <a:ext cx="51905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สกัดเฟรม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4719" y="1444752"/>
            <a:ext cx="5336895" cy="4617720"/>
          </a:xfrm>
          <a:prstGeom prst="rect">
            <a:avLst/>
          </a:prstGeom>
          <a:solidFill>
            <a:srgbClr val="F5F6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9" name="Picture 8" descr="B7-sequence-ass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727" y="1578306"/>
            <a:ext cx="5208879" cy="40580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87871" y="5751576"/>
            <a:ext cx="51905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Label Assist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97A00"/>
                </a:solidFill>
                <a:latin typeface="Leelawadee UI"/>
                <a:ea typeface="Leelawadee UI"/>
                <a:cs typeface="Leelawadee UI"/>
              </a:rPr>
              <a:t>⚠ ป้ายกรอบ par / alt / loop ในสองรูปนี้เป็นสีอ่อน อาจอ่านไม่ออกจากท้ายห้อง — ให้พูดออกเสียงเอง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รูป ข6, ข7 · 05_reports/diagrams-svg/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6 · Web Application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วงจรการกำกับข้อมูล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B9-activity-annot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655" y="1444752"/>
            <a:ext cx="1289409" cy="4617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23560" y="1536192"/>
            <a:ext cx="592805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วงจรเต็ม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: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กำกับด้วยมือชุดแรก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→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ส่งออก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→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ฝึก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→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อัปโหลด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500" b="0" dirty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.pt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กลับเข้าระบบ</a:t>
            </a:r>
            <a:endParaRPr sz="1600" b="0" dirty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→ </a:t>
            </a:r>
            <a:r>
              <a:rPr sz="15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ตรวจจับแบบกลุ่ม</a:t>
            </a:r>
            <a:r>
              <a:rPr sz="15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→ </a:t>
            </a:r>
            <a:r>
              <a:rPr sz="15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คนรีวิว</a:t>
            </a:r>
            <a:r>
              <a:rPr sz="15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→ </a:t>
            </a:r>
            <a:r>
              <a:rPr sz="15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วนใหม่จนคุณภาพถึงเกณฑ์</a:t>
            </a:r>
            <a:endParaRPr sz="1500" b="0" dirty="0">
              <a:solidFill>
                <a:srgbClr val="5C6B7A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การตรวจจับแบบกลุ่มด้วยแบบจำลองรุ่นใหม่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ต้องตั้งค่าให้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"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ข้ามเฟรมที่รีวิวไปแล้ว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"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ถ้าไม่มีการ์ดตัวนี้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การรันรอบใหม่จะ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เขียนทับงานที่คนตรวจแล้วเงียบ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รูป ข9 · 05_reports/diagrams-svg/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6 · Web Application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สถานะของงานและสถานะของเฟรม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44752"/>
            <a:ext cx="5336895" cy="4617720"/>
          </a:xfrm>
          <a:prstGeom prst="rect">
            <a:avLst/>
          </a:prstGeom>
          <a:solidFill>
            <a:srgbClr val="F5F6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6" name="Picture 5" descr="B10-state-mach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750736"/>
            <a:ext cx="5208879" cy="17131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1" y="5751576"/>
            <a:ext cx="51905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สถานะของงาน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4719" y="1444752"/>
            <a:ext cx="5336895" cy="4617720"/>
          </a:xfrm>
          <a:prstGeom prst="rect">
            <a:avLst/>
          </a:prstGeom>
          <a:solidFill>
            <a:srgbClr val="F5F6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9" name="Picture 8" descr="B10-state-machine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727" y="3232234"/>
            <a:ext cx="5208879" cy="75014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87871" y="5751576"/>
            <a:ext cx="51905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สถานะของเฟรม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รูป ข10 · ข10-2 · 05_reports/diagrams-svg/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6 · Web Application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การออกแบบส่วนติดต่อผู้ใช้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44752"/>
            <a:ext cx="1091153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ออกแบบตามลำดับงานจริง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ไม่ใช่ตามโครงสร้างข้อมูล</a:t>
            </a:r>
            <a:endParaRPr sz="1600" b="1" dirty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1600" b="1" dirty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4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ขั้นเป็นลำดับเชิงเส้น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→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ใช้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แถบเมนูบน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ไม่ใช้เมนูข้าง</a:t>
            </a:r>
            <a:endParaRPr sz="1600" b="0" dirty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หน้ากำกับข้อมูล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: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แถบภาพย่อซ้าย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(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ป้าย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3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สถานะ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) ·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พื้นที่วาดกลาง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·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แผงคุณสมบัติขวา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·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แถบสถานะล่าง</a:t>
            </a:r>
            <a:endParaRPr sz="1600" b="0" dirty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กฎการใช้สี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: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สีสื่อ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*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คลาส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*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อย่างเดียว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· *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ที่มาของกรอบ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*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สื่อด้วยเส้น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เส้นประ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= AI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เสนอ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,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เส้นทึบ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=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ยืนยันแล้ว</a:t>
            </a:r>
            <a:endParaRPr sz="1600" b="1" dirty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(</a:t>
            </a:r>
            <a:r>
              <a:rPr sz="15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ไม่ให้สีสื่อความหมายสองอย่างซ้อนกัน</a:t>
            </a:r>
            <a:r>
              <a:rPr sz="15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คีย์ลัดครบชุด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+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แผ่นสรุปคีย์ลัดที่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generate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จากตารางเดียวกับโค้ด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→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เอกสารไม่มีวันเพี้ยนจากโค้ด</a:t>
            </a:r>
            <a:endParaRPr sz="1600" b="0" dirty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ธีมสว่าง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/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มืด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/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ตามระบบ</a:t>
            </a:r>
            <a:endParaRPr sz="1600" b="1" dirty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source-docs/WORK_PLAN.md §3 UI/UX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6 · Web Application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หน้าตาระบบจริง (ภาพรวม 4 หน้า)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44752"/>
            <a:ext cx="5336895" cy="2189988"/>
          </a:xfrm>
          <a:prstGeom prst="rect">
            <a:avLst/>
          </a:prstGeom>
          <a:solidFill>
            <a:srgbClr val="F5F6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6" name="Picture 5" descr="2026-08-12__02-home-extract-ta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275" y="1508760"/>
            <a:ext cx="4032504" cy="17693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1" y="3323844"/>
            <a:ext cx="51905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1 · สกัดเฟรม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4719" y="1444752"/>
            <a:ext cx="5336895" cy="2189988"/>
          </a:xfrm>
          <a:prstGeom prst="rect">
            <a:avLst/>
          </a:prstGeom>
          <a:solidFill>
            <a:srgbClr val="F5F6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9" name="Picture 8" descr="2026-08-12__06-detect-model-pick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6915" y="1508760"/>
            <a:ext cx="4032504" cy="17693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87871" y="3323844"/>
            <a:ext cx="51905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2 · ตรวจจับ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72484"/>
            <a:ext cx="5336895" cy="2189988"/>
          </a:xfrm>
          <a:prstGeom prst="rect">
            <a:avLst/>
          </a:prstGeom>
          <a:solidFill>
            <a:srgbClr val="F5F6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12" name="Picture 11" descr="2026-08-12__11-annotate-polygon-too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9340" y="3936492"/>
            <a:ext cx="4038373" cy="17693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1" y="5751576"/>
            <a:ext cx="51905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3 · กำกับข้อมูล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4719" y="3872484"/>
            <a:ext cx="5336895" cy="2189988"/>
          </a:xfrm>
          <a:prstGeom prst="rect">
            <a:avLst/>
          </a:prstGeom>
          <a:solidFill>
            <a:srgbClr val="F5F6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15" name="Picture 14" descr="2026-08-12__12-export-forma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6915" y="3936492"/>
            <a:ext cx="4032504" cy="17693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87871" y="5751576"/>
            <a:ext cx="51905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4 · ส่งออกชุดข้อมูล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ภาพหน้าจอจากระบบจริง 12 ส.ค. 2569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6 · Web Application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หน้ากำกับข้อมูล — หัวใจของเว็บแอป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2026-08-12__10-annotate-over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510" y="1444752"/>
            <a:ext cx="8602675" cy="4087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60527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แถบภาพย่อซ้าย (ป้าย 3 สถานะ) · พื้นที่วาดกลาง (เส้นประ = AI เสนอ / เส้นทึบ = ยืนยันแล้ว) · แผงคุณสมบัติขวา · แถบสถานะล่าง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รูปหน้าจอจริง 12 ส.ค. 2569 · source-docs/WORK_PLAN.md §3 UI/UX Layout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6 · Web Application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Analytics — เชื่อมผลใช้งานจริงกลับมาวัดคุณภาพโมเดล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2026-08-12__14-analytic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149" y="1444752"/>
            <a:ext cx="9315396" cy="4087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60527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ตัวชี้วัดที่ตรงกับการใช้งานจริง อาจสำคัญกว่า mAP ในบางแง่: อัตราการยอมรับผล AI — เก็บประวัติทุกเวอร์ชันของโมเดล + สัดส่วนที่คนกดยืนยัน vs ปฏิเสธ vs แก้ไข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รูปหน้าจอจริง 12 ส.ค. 2569 · 01_frame-extractor-tool/webapp/server.py (endpoint analytics)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6 · Web Application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ลำดับการสาธิต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44752"/>
            <a:ext cx="3478682" cy="2189988"/>
          </a:xfrm>
          <a:prstGeom prst="rect">
            <a:avLst/>
          </a:prstGeom>
          <a:solidFill>
            <a:srgbClr val="F5F6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6" name="Picture 5" descr="2026-08-12__02-home-extract-ta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658346"/>
            <a:ext cx="3350666" cy="14701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1" y="3323844"/>
            <a:ext cx="333237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1. สกัดเฟรม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6506" y="1444752"/>
            <a:ext cx="3478682" cy="2189988"/>
          </a:xfrm>
          <a:prstGeom prst="rect">
            <a:avLst/>
          </a:prstGeom>
          <a:solidFill>
            <a:srgbClr val="F5F6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9" name="Picture 8" descr="2026-08-12__06-detect-model-pick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0514" y="1658346"/>
            <a:ext cx="3350666" cy="14701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29658" y="3323844"/>
            <a:ext cx="333237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2. ตรวจจับ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72932" y="1444752"/>
            <a:ext cx="3478682" cy="2189988"/>
          </a:xfrm>
          <a:prstGeom prst="rect">
            <a:avLst/>
          </a:prstGeom>
          <a:solidFill>
            <a:srgbClr val="F5F6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12" name="Picture 11" descr="2026-08-12__10-annotate-overvie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6940" y="1597445"/>
            <a:ext cx="3350666" cy="15919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46084" y="3323844"/>
            <a:ext cx="333237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3. กำกับข้อมูล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72484"/>
            <a:ext cx="3478682" cy="2189988"/>
          </a:xfrm>
          <a:prstGeom prst="rect">
            <a:avLst/>
          </a:prstGeom>
          <a:solidFill>
            <a:srgbClr val="F5F6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15" name="Picture 14" descr="2026-08-12__12-export-forma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" y="4086078"/>
            <a:ext cx="3350666" cy="147019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3231" y="5751576"/>
            <a:ext cx="333237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4. ส่งออก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56506" y="3872484"/>
            <a:ext cx="3478682" cy="2189988"/>
          </a:xfrm>
          <a:prstGeom prst="rect">
            <a:avLst/>
          </a:prstGeom>
          <a:solidFill>
            <a:srgbClr val="F5F6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18" name="Picture 17" descr="2026-08-12__14-analytics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0514" y="4086078"/>
            <a:ext cx="3350666" cy="147019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429658" y="5751576"/>
            <a:ext cx="333237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5.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97A00"/>
                </a:solidFill>
                <a:latin typeface="Leelawadee UI"/>
                <a:ea typeface="Leelawadee UI"/>
                <a:cs typeface="Leelawadee UI"/>
              </a:rPr>
              <a:t>⚠ เตรียมก่อนวันสอบ: Video ทดสอบ 30 วิ.mp4 · ซ้อมเต็มรอบอย่างน้อย 1 ครั้ง · อัดวิดีโอสำรอง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6 · Web Application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ฟังก์ชันของระบบทั้งหมด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44752"/>
          <a:ext cx="10911534" cy="26883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34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6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กลุ่มงาน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ฟังก์ชัน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สกัดเฟรม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อัปโหลดวิดีโอ · ตัดช่วงเวลา · ย่อขนาด · สุ่มเฟรม/ทุกเฟรม · ดาวน์โหลด ZIP · หยุดกลางคัน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ตรวจจับ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แบบจำลองในเครื่อง + Roboflow Cloud · เลือกแบบจำลองจากรายการ · เกณฑ์ความเชื่อมั่นรายคลาส · ยืนยัน/ปฏิเสธผลก่อนบันทึก · อัปโหลดโฟลเดอร์ภาพเข้าตรวจจับ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กำกับข้อมูล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กรอบ · รูปหลายเหลี่ยม · จุดสำคัญ · เลือกหลายกรอบแก้ทีเดียว · ย้อน/ทำซ้ำ · แทรกเฟรมระหว่างกลาง · คุณสมบัติ occluded/truncated · Label Assist ทีละเฟรมและตอนเปิดเฟรม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OCR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อ่านข้อความในภาพ ทีละเฟรมและแบบกลุ่ม · ค้นหาในแถบภาพย่อ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ส่งออก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YOLO / COCO / VOC · แบ่ง train-val-test · เพิ่มขยายข้อมูล · ดูสถิติก่อนส่งออก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ระบบ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Analytics (ประวัติเวอร์ชันแบบจำลอง + อัตราการยอมรับผล AI) · rate-limit ป้องกันการใช้งานเกินบนเส้นทางที่หนัก · งานเบื้องหลังหยุดได้ทุกชนิด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279392"/>
            <a:ext cx="1091153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38 endpoint · 4 ไฟล์หลัก 7,849 บรรทัด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ไม่มีฐานข้อมูล ไม่มี Docker ไม่มีไลบรารีฝั่งหน้าเว็บ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01_frame-extractor-tool/webapp/server.py (นับ route จริง 38 เส้นทาง) · static/app.js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6 · Web Application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System Framework (บริการที่เว็บแอปวิ่งอยู่บน)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B12-system-frame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50591"/>
            <a:ext cx="4480560" cy="2606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23560" y="1115309"/>
            <a:ext cx="5928055" cy="51940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Frontend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ไม่ใช่บริการแยก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</a:t>
            </a:r>
            <a:r>
              <a:rPr sz="1500" b="0" dirty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index.html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· </a:t>
            </a:r>
            <a:r>
              <a:rPr sz="1500" b="0" dirty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app.js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· </a:t>
            </a:r>
            <a:r>
              <a:rPr sz="1500" b="0" dirty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style.css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เป็นไฟล์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static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ธรรมดา</a:t>
            </a:r>
            <a:endParaRPr sz="1600" b="0" dirty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</a:t>
            </a:r>
            <a:r>
              <a:rPr sz="15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ไม่มี</a:t>
            </a:r>
            <a:r>
              <a:rPr sz="15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framework </a:t>
            </a:r>
            <a:r>
              <a:rPr sz="15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ไม่มีขั้นตอน</a:t>
            </a:r>
            <a:r>
              <a:rPr sz="15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build </a:t>
            </a:r>
            <a:r>
              <a:rPr sz="15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เสิร์ฟผ่าน</a:t>
            </a:r>
            <a:r>
              <a:rPr sz="15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400" b="0" dirty="0" err="1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app.mount</a:t>
            </a:r>
            <a:r>
              <a:rPr sz="1400" b="0" dirty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("/", </a:t>
            </a:r>
            <a:r>
              <a:rPr sz="1400" b="0" dirty="0" err="1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StaticFiles</a:t>
            </a:r>
            <a:r>
              <a:rPr sz="1400" b="0" dirty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(...))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Server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คือบริการจริงหนึ่งเดียว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FastAPI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+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Uvicorn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โปรเซสเดียว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รับทั้ง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38 endpoint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</a:t>
            </a:r>
            <a:r>
              <a:rPr sz="15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ของ</a:t>
            </a:r>
            <a:r>
              <a:rPr sz="15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API </a:t>
            </a:r>
            <a:r>
              <a:rPr sz="15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และไฟล์</a:t>
            </a:r>
            <a:r>
              <a:rPr sz="15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static </a:t>
            </a:r>
            <a:r>
              <a:rPr sz="15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พร้อมกัน</a:t>
            </a:r>
            <a:endParaRPr sz="1500" b="0" dirty="0">
              <a:solidFill>
                <a:srgbClr val="5C6B7A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ไม่มี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Database service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ใช้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500" b="0" dirty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webapp/</a:t>
            </a:r>
            <a:r>
              <a:rPr sz="1500" b="0" dirty="0" err="1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state.json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ไฟล์แบนราบไฟล์เดียว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เขียนแบบ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atomic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(</a:t>
            </a:r>
            <a:r>
              <a:rPr sz="15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tmp</a:t>
            </a:r>
            <a:r>
              <a:rPr sz="15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5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แล้วค่อย</a:t>
            </a:r>
            <a:r>
              <a:rPr sz="15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rename) </a:t>
            </a:r>
            <a:r>
              <a:rPr sz="15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เป็นการตัดสินใจเชิงออกแบบ</a:t>
            </a:r>
            <a:r>
              <a:rPr sz="15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5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ไม่ใช่ข้อจำกัด</a:t>
            </a:r>
            <a:r>
              <a:rPr sz="15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5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เหมือนที่ไม่มี</a:t>
            </a:r>
            <a:r>
              <a:rPr sz="15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Docker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Roboflow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Cloud API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เป็นบริการภายนอก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เสริมทางเลือก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ไม่นับเป็นหนึ่งใน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3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บริการหลักนี้</a:t>
            </a:r>
            <a:endParaRPr sz="1600" b="0" dirty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6144768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รูป ข12 · server.py (นับ route จริง 38 เส้นทาง)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28232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6 · Web Application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Infrastructure (การติดตั้งใช้งานจริง)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B2-deplo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39212"/>
            <a:ext cx="448056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23560" y="1536192"/>
            <a:ext cx="592805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ระบบทำงานครบวงจรได้จริงบนเครื่องเดียว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เบราว์เซอร์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·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เซิร์ฟเวอร์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·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แบบจำลอง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อยู่</a:t>
            </a:r>
            <a:endParaRPr sz="1600" b="0" dirty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</a:t>
            </a:r>
            <a:r>
              <a:rPr sz="15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เครื่องเดียวกัน</a:t>
            </a:r>
            <a:r>
              <a:rPr sz="15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5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ไม่มีฐานข้อมูล</a:t>
            </a:r>
            <a:r>
              <a:rPr sz="15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5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ไม่มี</a:t>
            </a:r>
            <a:r>
              <a:rPr sz="15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Docker — </a:t>
            </a:r>
            <a:r>
              <a:rPr sz="15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เป็นการตัดสินใจเชิงออกแบบ</a:t>
            </a:r>
            <a:r>
              <a:rPr sz="15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5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ไม่ใช่ข้อจำกัด</a:t>
            </a:r>
            <a:endParaRPr sz="1500" b="1" dirty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หลักฐานการใช้งานจริง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: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ชุดข้อมูลของโครงงานนี้ผลิตด้วยระบบนี้ทั้งหมด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4,761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เฟรม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· 28,240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กรอบ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(ณ 17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ส.ค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. 2569)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1600" b="0" dirty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สิ่งที่ยังไม่ได้ทำ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และรู้อยู่ว่าต้องทำ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: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ยังไม่เปิด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HTTPS · session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ยังเก็บใน</a:t>
            </a:r>
            <a:endParaRPr sz="1600" b="0" dirty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</a:t>
            </a:r>
            <a:r>
              <a:rPr sz="15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หน่วยความจำ</a:t>
            </a:r>
            <a:r>
              <a:rPr sz="15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(</a:t>
            </a:r>
            <a:r>
              <a:rPr sz="15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รีสตาร์ทแล้วหลุด</a:t>
            </a:r>
            <a:r>
              <a:rPr sz="15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) · </a:t>
            </a:r>
            <a:r>
              <a:rPr sz="15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ยังไม่ขึ้นโดเมนจริง</a:t>
            </a:r>
            <a:endParaRPr sz="1500" b="0" dirty="0">
              <a:solidFill>
                <a:srgbClr val="5C6B7A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ตัดสินใจไว้แล้วว่าจะใช้โฮสต์แบบ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CPU-only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เพราะสกัดเฟรม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/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กำกับ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/</a:t>
            </a:r>
            <a:r>
              <a:rPr sz="1600" b="0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ส่งออกไม่ได้ประโยชน์จาก</a:t>
            </a:r>
            <a:r>
              <a:rPr sz="16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GPU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รูป ข2 · source-docs/WORK_PLAN.md §จุดที่ต้องตัดสินใจก่อนเริ่ม S-0 ข้อ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6 · Web Application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ประสิทธิภาพของระบบ — วัดเอง ไม่ได้ประมาณ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5250027" cy="393192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5250027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466481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CPU (ตรงกับการใช้งานจริง)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33472"/>
            <a:ext cx="4664811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อนุมาน มัธยฐาน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139.8 ms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p95 155.0 ms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รวมต่อเฟรม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179.0 ms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5.59 เฟรม/วินาที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= 335 เฟรม/นาที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1587" y="1444752"/>
            <a:ext cx="5250027" cy="393192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1587" y="1444752"/>
            <a:ext cx="5250027" cy="50292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94195" y="1719072"/>
            <a:ext cx="466481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GPU (RTX 3050 Laptop 4 GB)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4195" y="2633472"/>
            <a:ext cx="4664811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อนุมาน มัธยฐาน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44.7 ms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p95 57.0 ms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รวมต่อเฟรม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74.6 ms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13.41 เฟรม/วินาที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= 805 เฟรม/นาที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5955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ตรวจจับแบบกลุ่ม 400 เฟรม ≈ 1.2 นาทีบน CPU (30 วินาทีบน GPU) — เป็นงานเบื้องหลัง ไม่บล็อกการใช้งานอื่น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97A00"/>
                </a:solidFill>
                <a:latin typeface="Leelawadee UI"/>
                <a:ea typeface="Leelawadee UI"/>
                <a:cs typeface="Leelawadee UI"/>
              </a:rPr>
              <a:t>⚠ ยังไม่ได้วัด: เวลาที่รวม HTTP และการบันทึก state.json · การใช้งานพร้อมกันหลายคน · เครื่องระดับโฮสต์จริง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results_960/inference_benchmark.md — วัด 14 ส.ค. 2569 · 40 เฟรม · imgsz 960 · ผ่าน YOLOv11Detector.predict()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6 · Web Application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สิ่งที่ตัวเลขความเร็วบอกและไม่บอก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44752"/>
            <a:ext cx="1091153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โหลดโมเดลครั้งแรก ~8 วินาที จ่ายครั้งเดียว ไม่ใช่ทุกเฟรม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เซิร์ฟเวอร์แคช detector ไว้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Label Assist ทีละเฟรมตอบใน ~0.2 วินาทีบน CPU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จึงออกแบบให้ตอบในคำขอเดียว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ไม่ต้องผ่านระบบงานเบื้องหลังเหมือนการตรวจจับแบบกลุ่ม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การอ่านไฟล์ภาพกินเวลา 36 ms จาก 179 ms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หนึ่งในห้าของเวลาทั้งหมดไม่ได้อยู่ที่โมเดล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results_960/inference_benchmark.md · 01_frame-extractor-tool/benchmark_inference.py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34440" y="2468880"/>
            <a:ext cx="96012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7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Tools &amp; Technology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หลักการเดียวของทั้งส่วนนี้: เลือกเครื่องมือให้พอดีกับขนาดปัญหาจริง ไม่ใช่เพราะเป็นที่นิยม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7 · Tools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เครื่องมือฝั่งแบบจำลอง /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44752"/>
          <a:ext cx="10911534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3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8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9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เครื่องมือ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ใช้ทำอะไร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ทำไมเลือก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YOLO11n (Ultralytics)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แบบจำลองตรวจจับ 9 คลาส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รุ่นเล็กสุด — VRAM มีแค่ 4 GB · single-shot จึงรันบน CPU ได้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PyTorch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เอนจินเบื้องหลัง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แยก +cu126 ตอนฝึก / +cpu ตอนเสิร์ฟ — โฮสต์จริงไม่มี GPU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Roboflow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กำกับข้อมูล + export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ทีมสามคนต้องกำกับพร้อมกัน — เว็บแอปเราเป็นงานผู้ใช้เดียว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OpenCV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อ่านวิดีโอ · สกัดเฟรม · วัดความเบลอ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ทำทั้งอ่านวิดีโอและวัดความคมได้ในไลบรารีเดียว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imagehash (pHash)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ปฏิเสธเฟรมซ้ำ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เฟรมจากวิดีโอคล้ายกันมาก ถ้าไม่กรอง โมเดลจะจำภาพเดิม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Jupyter + nbclient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ฝึกโดยบันทึกผลทีละเซลล์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ฝึกหลายชั่วโมง — เซสชันหลุดแล้วผลต้องไม่หาย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RTX 3050 Laptop 4 GB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ฮาร์ดแวร์ที่ใช้ฝึก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ไม่ใช้ Colab / GPU เช่า — ไม่มี session timeout ควบคุมได้เต็มที่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report_training_results.py (เขียนเอง)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วัด best.pt ซ้ำ ออกรายงาน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ตัวเลขใน log ตอนฝึกไม่ใช่ตัวเลขของ best.pt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analyze_box_sizes.py (เขียนเอง)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วัดขนาดกรอบรายคลาส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ทำให้ข้อสรุปเรื่อง needle เป็นการวัด ไม่ใช่การเดา · stdlib ล้วน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benchmark_inference.py (เขียนเอง)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วัดความเร็วจริง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วัดผ่านเส้นทางที่เว็บแอปเรียกจริง ไม่ใช่เรียกไลบรารีตรง ๆ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7 · Tools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เครื่องมือฝั่งเว็บไซต์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44752"/>
          <a:ext cx="10911534" cy="34564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46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5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9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เครื่องมือ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ใช้ทำอะไร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ทำไมเลือก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FastAPI + Uvicorn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เซิร์ฟเวอร์ 38 endpoint (server.py 2,199 บรรทัด)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ตรวจชนิดข้อมูลด้วย Pydantic ในตัว จับ input ผิดตั้งแต่ขอบระบบ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HTML/CSS/JS ล้วน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หน้าเว็บทั้งหมด (app.js 4,153 บรรทัด)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ไม่มี framework ไม่มี build step — งานหลักคือวาดบน canvas ซึ่ง framework ไม่ช่วย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state.json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เก็บสถานะทั้งระบบ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ไม่มีฐานข้อมูล — ผู้ใช้คนเดียว เครื่องเดียว · ย้ายเครื่องด้วยการคัดลอกโฟลเดอร์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threading + polling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งานเบื้องหลังทุกชนิด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ไม่ใช้ WebSocket / message queue — งานมีทีละไม่กี่งาน · debug ง่ายกว่ามาก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Tesseract (pytesseract)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OCR อ่านข้อความในภาพ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รันในเครื่อง ไม่ออกอินเทอร์เน็ต · ไม่มีค่าใช้จ่ายต่อครั้ง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Roboflow Cloud API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ตัวเลือกตรวจจับผ่านคลาวด์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ให้เทียบผลกับโมเดลในเครื่องได้ · มีปุ่มยืนยันก่อนยิงทุกครั้ง เพราะกินเครดิตจริง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python-dotenv + .env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ตั้งค่าระบบ (ขนาดอัปโหลด · rate-limit)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ค่าที่ปรับต่อเครื่องได้ ไม่ต้องแก้โค้ดหรือ commit ขึ้น git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python-pptx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สร้างสไลด์ชุดนี้เอง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สไลด์ที่ต้องแก้ตัวเลขบ่อย — สร้างจากโค้ดแล้วแก้ที่เดียว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import จริงใน webapp/server.py · จำนวนบรรทัดนับจากไฟล์จริง (server.py 2,199 · app.js 4,153 · style.css 893 · index.html 604 = 7,849)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7 · Tools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ทำไมไม่เลือกตัวเลือกอื่น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44752"/>
          <a:ext cx="10911534" cy="30723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795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6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ไม่ได้ใช้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เหตุผล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ฐานข้อมูล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ผู้ใช้คนเดียว เครื่องเดียว · ไฟล์ JSON + สำรองพอ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React / Vue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งานหลักคือวาดบน canvas · เพิ่มขั้นตอน build ที่ผู้ใช้ต้องติดตั้ง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Docker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มีแค่ไฟล์ Python + static · pip install แล้วรันได้เลย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WebSocket / Celery / Redis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งานเบื้องหลังมีทีละไม่กี่งาน · polling ให้ผลเท่ากันโดยไม่ต้องมีบริการเพิ่ม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Google Colab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session หลุดกลางการฝึก 150 รอบ · ต้องอัปโหลดชุดข้อมูลใหม่ทุกครั้ง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เช่า GPU ค้างไว้ตอน deploy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สกัดเฟรม/กำกับ/ส่งออก ไม่ได้ประโยชน์จาก GPU เลย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YOLO รุ่นใหญ่ (s/m/l)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VRAM 4 GB · รุ่น n เป็นรุ่นเดียวที่รันบน CPU ของโฮสต์ได้ในเวลาที่ยอมรับได้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34440" y="2468880"/>
            <a:ext cx="96012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8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8 ·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ข้อจำกัดของทั้งระบบ และงานในระยะถัดไป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355868"/>
            <a:ext cx="5250027" cy="393192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03020"/>
            <a:ext cx="5250027" cy="50292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994" y="1328166"/>
            <a:ext cx="466481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dirty="0" err="1">
                <a:solidFill>
                  <a:srgbClr val="C97A00"/>
                </a:solidFill>
                <a:latin typeface="Leelawadee UI"/>
                <a:ea typeface="Leelawadee UI"/>
                <a:cs typeface="Leelawadee UI"/>
              </a:rPr>
              <a:t>ข้อจำกัด</a:t>
            </a:r>
            <a:endParaRPr sz="2100" b="1" dirty="0">
              <a:solidFill>
                <a:srgbClr val="C97A00"/>
              </a:solidFill>
              <a:latin typeface="Leelawadee UI"/>
              <a:ea typeface="Leelawadee UI"/>
              <a:cs typeface="Leelawade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3928" y="1685399"/>
            <a:ext cx="5661355" cy="4134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ฝั่งแบบจำลอง</a:t>
            </a:r>
            <a:endParaRPr sz="1400" b="1" dirty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</a:t>
            </a:r>
            <a:r>
              <a:rPr sz="13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needle </a:t>
            </a:r>
            <a:r>
              <a:rPr sz="13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ยังเป็นคลาสที่อ่อนที่สุด</a:t>
            </a: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mAP50 0.3893 — </a:t>
            </a:r>
            <a:r>
              <a:rPr sz="13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ดีขึ้น</a:t>
            </a:r>
            <a:r>
              <a:rPr sz="13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3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ไม่ใช่แก้ได้</a:t>
            </a:r>
            <a:endParaRPr sz="1300" b="1" dirty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</a:t>
            </a:r>
            <a:r>
              <a:rPr sz="13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Stitch Scissors </a:t>
            </a:r>
            <a:r>
              <a:rPr sz="13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มีตัวอย่างน้อยเกินกว่าจะสรุปอะไรได้</a:t>
            </a: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(6 </a:t>
            </a:r>
            <a:r>
              <a:rPr sz="13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กรอบในชุดตรวจสอบ</a:t>
            </a:r>
            <a:endParaRPr sz="1300" b="0" dirty="0">
              <a:solidFill>
                <a:srgbClr val="5C6B7A"/>
              </a:solidFill>
              <a:latin typeface="Leelawadee UI"/>
              <a:ea typeface="Leelawadee UI"/>
              <a:cs typeface="Leelawadee UI"/>
            </a:endParaRP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</a:t>
            </a:r>
            <a:r>
              <a:rPr sz="13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ของรอบล่าสุด</a:t>
            </a: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)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</a:t>
            </a:r>
            <a:r>
              <a:rPr sz="13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ชุดข้อมูลไม่สมดุล</a:t>
            </a: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finger 10,332 </a:t>
            </a:r>
            <a:r>
              <a:rPr sz="13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กรอบ</a:t>
            </a: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3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เทียบ</a:t>
            </a: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Stitch Scissors 36 </a:t>
            </a:r>
            <a:r>
              <a:rPr sz="13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กรอบ</a:t>
            </a:r>
            <a:endParaRPr sz="1300" b="0" dirty="0">
              <a:solidFill>
                <a:srgbClr val="5C6B7A"/>
              </a:solidFill>
              <a:latin typeface="Leelawadee UI"/>
              <a:ea typeface="Leelawadee UI"/>
              <a:cs typeface="Leelawadee UI"/>
            </a:endParaRP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</a:t>
            </a:r>
            <a:r>
              <a:rPr sz="13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ชุด</a:t>
            </a:r>
            <a:r>
              <a:rPr sz="13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re-annotated </a:t>
            </a:r>
            <a:r>
              <a:rPr sz="13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แบ่ง</a:t>
            </a:r>
            <a:r>
              <a:rPr sz="13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3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val</a:t>
            </a:r>
            <a:r>
              <a:rPr sz="13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3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ใหม่</a:t>
            </a: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3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จึงเทียบกับผลรอบ</a:t>
            </a: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aug960 </a:t>
            </a:r>
            <a:r>
              <a:rPr sz="13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เดิมตรง</a:t>
            </a: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ๆ </a:t>
            </a:r>
            <a:r>
              <a:rPr sz="13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ไม่ได้</a:t>
            </a:r>
            <a:endParaRPr sz="1300" b="0" dirty="0">
              <a:solidFill>
                <a:srgbClr val="5C6B7A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ฝั่งเว็บแอป</a:t>
            </a:r>
            <a:endParaRPr sz="1400" b="1" dirty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</a:t>
            </a:r>
            <a:r>
              <a:rPr sz="13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วัดความเร็วแล้ว</a:t>
            </a:r>
            <a:r>
              <a:rPr sz="13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3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แต่ยังไม่ครบทุกมิติ</a:t>
            </a: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— </a:t>
            </a:r>
            <a:r>
              <a:rPr sz="13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ยังไม่ได้วัดแบบรวม</a:t>
            </a: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HTTP · </a:t>
            </a:r>
            <a:r>
              <a:rPr sz="13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หลายคำขอ</a:t>
            </a:r>
            <a:endParaRPr sz="1300" b="0" dirty="0">
              <a:solidFill>
                <a:srgbClr val="5C6B7A"/>
              </a:solidFill>
              <a:latin typeface="Leelawadee UI"/>
              <a:ea typeface="Leelawadee UI"/>
              <a:cs typeface="Leelawadee UI"/>
            </a:endParaRP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</a:t>
            </a:r>
            <a:r>
              <a:rPr sz="13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พร้อมกัน</a:t>
            </a: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· </a:t>
            </a:r>
            <a:r>
              <a:rPr sz="13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บนเครื่องโฮสต์จริง</a:t>
            </a:r>
            <a:endParaRPr sz="1300" b="0" dirty="0">
              <a:solidFill>
                <a:srgbClr val="5C6B7A"/>
              </a:solidFill>
              <a:latin typeface="Leelawadee UI"/>
              <a:ea typeface="Leelawadee UI"/>
              <a:cs typeface="Leelawadee UI"/>
            </a:endParaRP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</a:t>
            </a:r>
            <a:r>
              <a:rPr sz="13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ยังไม่ได้ติดตั้งบนโดเมนจริง</a:t>
            </a: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3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ยังไม่มี</a:t>
            </a: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HTTPS · session </a:t>
            </a:r>
            <a:r>
              <a:rPr sz="13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อยู่ในหน่วยความจำ</a:t>
            </a:r>
            <a:endParaRPr lang="th-TH" sz="1300" b="0" dirty="0">
              <a:solidFill>
                <a:srgbClr val="5C6B7A"/>
              </a:solidFill>
              <a:latin typeface="Leelawadee UI"/>
              <a:ea typeface="Leelawadee UI"/>
              <a:cs typeface="Leelawadee UI"/>
            </a:endParaRP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lang="th-TH"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</a:t>
            </a:r>
            <a:r>
              <a:rPr lang="th-TH" sz="13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รองรับผู้ใช้ทีละคน</a:t>
            </a:r>
            <a:r>
              <a:rPr lang="th-TH"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โดยการออกแบบ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1587" y="1303020"/>
            <a:ext cx="5250027" cy="393192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1587" y="1303020"/>
            <a:ext cx="5250027" cy="50292"/>
          </a:xfrm>
          <a:prstGeom prst="rect">
            <a:avLst/>
          </a:prstGeom>
          <a:solidFill>
            <a:srgbClr val="2F9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94195" y="1402719"/>
            <a:ext cx="466481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dirty="0" err="1">
                <a:solidFill>
                  <a:srgbClr val="2F9E78"/>
                </a:solidFill>
                <a:latin typeface="Leelawadee UI"/>
                <a:ea typeface="Leelawadee UI"/>
                <a:cs typeface="Leelawadee UI"/>
              </a:rPr>
              <a:t>งานในระยะถัดไป</a:t>
            </a:r>
            <a:endParaRPr sz="2100" b="1" dirty="0">
              <a:solidFill>
                <a:srgbClr val="2F9E78"/>
              </a:solidFill>
              <a:latin typeface="Leelawadee UI"/>
              <a:ea typeface="Leelawadee UI"/>
              <a:cs typeface="Leelawade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01587" y="1727552"/>
            <a:ext cx="5961600" cy="3895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ฝั่งข้อมูลและแบบจำลอง</a:t>
            </a:r>
            <a:endParaRPr sz="1400" b="1" dirty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</a:t>
            </a:r>
            <a:r>
              <a:rPr sz="13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เพิ่มตัวอย่างของ</a:t>
            </a:r>
            <a:r>
              <a:rPr sz="13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needle </a:t>
            </a:r>
            <a:r>
              <a:rPr sz="13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และ</a:t>
            </a:r>
            <a:r>
              <a:rPr sz="13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Stitch Scissors</a:t>
            </a: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— </a:t>
            </a:r>
            <a:r>
              <a:rPr sz="13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ข้อจำกัดที่ใหญ่ที่สุดคือ</a:t>
            </a:r>
            <a:endParaRPr sz="1300" b="0" dirty="0">
              <a:solidFill>
                <a:srgbClr val="5C6B7A"/>
              </a:solidFill>
              <a:latin typeface="Leelawadee UI"/>
              <a:ea typeface="Leelawadee UI"/>
              <a:cs typeface="Leelawadee UI"/>
            </a:endParaRP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</a:t>
            </a:r>
            <a:r>
              <a:rPr sz="13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จำนวนข้อมูล</a:t>
            </a: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3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ไม่ใช่สถาปัตยกรรม</a:t>
            </a:r>
            <a:endParaRPr sz="1300" b="0" dirty="0">
              <a:solidFill>
                <a:srgbClr val="5C6B7A"/>
              </a:solidFill>
              <a:latin typeface="Leelawadee UI"/>
              <a:ea typeface="Leelawadee UI"/>
              <a:cs typeface="Leelawadee UI"/>
            </a:endParaRP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</a:t>
            </a:r>
            <a:r>
              <a:rPr sz="13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ทดลองความละเอียดที่สูงกว่า</a:t>
            </a: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960 </a:t>
            </a:r>
            <a:r>
              <a:rPr sz="13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และแบบจำลองรุ่นใหญ่ขึ้น</a:t>
            </a: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3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เมื่อมีฮาร์ดแวร์รองรับ</a:t>
            </a:r>
            <a:endParaRPr sz="1300" b="0" dirty="0">
              <a:solidFill>
                <a:srgbClr val="5C6B7A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ฝั่งระบบ</a:t>
            </a:r>
            <a:endParaRPr sz="1400" b="1" dirty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</a:t>
            </a:r>
            <a:r>
              <a:rPr sz="13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วัดประสิทธิภาพบนเครื่องโฮสต์จริง</a:t>
            </a: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3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และวัดแบบรับหลายคำขอพร้อมกัน</a:t>
            </a:r>
            <a:endParaRPr sz="1300" b="0" dirty="0">
              <a:solidFill>
                <a:srgbClr val="5C6B7A"/>
              </a:solidFill>
              <a:latin typeface="Leelawadee UI"/>
              <a:ea typeface="Leelawadee UI"/>
              <a:cs typeface="Leelawadee UI"/>
            </a:endParaRP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</a:t>
            </a:r>
            <a:r>
              <a:rPr sz="13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ติดตั้งบนโดเมนจริงพร้อม</a:t>
            </a: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HTTPS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เป้าหมายปลายทาง</a:t>
            </a:r>
            <a:endParaRPr sz="1400" b="1" dirty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</a:t>
            </a:r>
            <a:r>
              <a:rPr sz="13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แบบจำลองวิเคราะห์ลำดับเหตุการณ์เชิงเวลา</a:t>
            </a:r>
            <a:r>
              <a:rPr sz="13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(RNN)</a:t>
            </a: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3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เพื่อจำแนกลำดับขั้นตอน</a:t>
            </a:r>
            <a:endParaRPr sz="1300" b="0" dirty="0">
              <a:solidFill>
                <a:srgbClr val="5C6B7A"/>
              </a:solidFill>
              <a:latin typeface="Leelawadee UI"/>
              <a:ea typeface="Leelawadee UI"/>
              <a:cs typeface="Leelawadee UI"/>
            </a:endParaRP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dirty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</a:t>
            </a:r>
            <a:r>
              <a:rPr sz="1300" b="0" dirty="0" err="1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การเย็บ</a:t>
            </a:r>
            <a:endParaRPr sz="1300" b="0" dirty="0">
              <a:solidFill>
                <a:srgbClr val="5C6B7A"/>
              </a:solidFill>
              <a:latin typeface="Leelawadee UI"/>
              <a:ea typeface="Leelawadee UI"/>
              <a:cs typeface="Leelawade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4001" y="5997186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ข้อจำกัดทุกข้อฝั่งซ้ายเป็นสิ่งที่วัดได้และรู้ตัว</a:t>
            </a:r>
            <a:r>
              <a:rPr sz="1600" b="1" dirty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</a:t>
            </a:r>
            <a:r>
              <a:rPr sz="1600" b="1" dirty="0" err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ไม่ใช่สิ่งที่เพิ่งมาพบตอนเขียนสไลด์</a:t>
            </a:r>
            <a:endParaRPr sz="1600" b="1" dirty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assets/results-reannot/val/baseline9-reannot_per_class_metrics.md · assets/results-reannot/val/benchmark_comparison.md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8 ·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ผลสำเร็จตามแผนการดำเนินการ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4475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มีแผนเป็นลายลักษณ์อักษรตั้งแต่ 17 ก.ค. 2569 และเทียบกับของจริงได้ทีละข้อ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11680"/>
          <a:ext cx="10911534" cy="15361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34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7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ระยะ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วางแผนไว้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ทำได้จริง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Phase 1 (MVP)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สกัดเฟรม · ตรวจจับ · กำกับข้อมูล · ส่งออก · Label Assist · Models API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ครบทั้งหมด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Phase 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เลือกหลายกรอบ+แก้ทีเดียว · เมนูคลิกขวา · auto-assist · occluded/truncated · Analytics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ครบทั้งหมด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Phase 3 (ตั้งใจเลื่อน)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รูปหลายเหลี่ยม · จุดสำคัญ · OCR · SAM auto-box · track ตามวิดีโอ · หลายผู้ใช้ · OBB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ทำได้ 3 จาก 7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694176"/>
            <a:ext cx="1091153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เส้นเวลา: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11 มิ.ย. เริ่มโปรแกรมเดสก์ท็อป → 17 ก.ค. เขียนแผน → 30 ก.ค. เว็บแอปขั้นแรก → 1 ส.ค. ครบสี่ขั้นตอน → 6-9 ส.ค. รูปหลายเหลี่ยม/จุดสำคัญ/OCR → 13 ส.ค. แบบจำลอง 9 คลาส ·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รวม 105 commit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source-docs/WORK_PLAN.md §6 Phasing + ประวัติ git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8 ·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สรุป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44752"/>
            <a:ext cx="1091153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1. augmentation สำคัญมากกับชุดข้อมูลขนาดเล็ก และเราพิสูจน์ด้วยการทดลองที่คุมตัวแปร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</a:t>
            </a:r>
            <a:r>
              <a:rPr sz="15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ให้ต่างกันเพียงตัวเดียว</a:t>
            </a: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— mAP50 0.5746 → 0.6559 · ดีขึ้นทุกคลาส ไม่มีคลาสไหนแย่ลง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1500" b="0">
              <a:solidFill>
                <a:srgbClr val="5C6B7A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2. needle เป็นปัญหาขนาดวัตถุ ไม่ใช่ปัญหาการจำแนก และเราวัดมันได้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80.9% ของกรอบเล็กกว่าเกณฑ์ small ของ COCO · เพิ่มความละเอียดแล้ว recall 0.2435 → 0.3579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โดยคะแนนรวมเท่าเดิม — ซึ่งตรงกับสมมติฐาน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1500" b="0">
              <a:solidFill>
                <a:srgbClr val="5C6B7A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3. เว็บแอปถูกใช้ผลิตชุดข้อมูลของโครงงานนี้จริงแล้ว และวงจรหมุนครบรอบแล้ว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4,761 เฟรม · 28,240 กรอบ (ณ 17 ส.ค. 2569) · ชุด re-annotated 2,489 ภาพ / 24,421 กรอบ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assets/results-comparison/val/benchmark_comparison.md · assets/results-boxsize/box_size_by_class.md · webapp/state.json · results_reannot_boxsize/box_size_by_class.md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8 ·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การแบ่งงานในทีม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44752"/>
          <a:ext cx="10911533" cy="15361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55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1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6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85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สมาชิก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รหัสนักศึกษา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รับผิดชอบหลัก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หัวข้อที่นำเสนอวันนี้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นางสาวตรีฤทัย แคยิหวา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66120361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เอกสารรายงาน — เรียบเรียงเนื้อหา ตรวจความสอดคล้องทั้งเล่ม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ส่วน 0 · W · 1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นางสาวฟ้าใส ขวัญปาน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66126467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การกำกับข้อมูล — ตีกรอบ 9 คลาส ตรวจและแก้ป้ายกำกับ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ส่วน 3 + สาธิตหน้ากำกับข้อมูล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นายอภินันท์ อายุยงค์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66112772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แบบจำลองและเว็บแอปพลิเคชัน — ฝึก/ประเมินโมเดล พัฒนาเว็บแอปทั้งระบบ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ส่วน 2 · 4 · 5 · 6 · 7 · 8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127248"/>
            <a:ext cx="1091153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แบ่งตามงานที่แต่ละคนทำจริง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ทุกคนพูดเฉพาะส่วนที่ตอบคำถามเจาะลึกได้เอง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8 ·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References (แหล่งอ้างอิงและของที่เอาไปใช้ต่อได้)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44752"/>
            <a:ext cx="1091153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เอกสารอ้างอิงหลักที่ใช้บ่อยที่สุด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(รายการเต็ม ~20 รายการ → สไลด์สำรอง B16-B17)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Redmon et al. (2016) — *You Only Look Once* — YOLO ต้นตระกูล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Bochkovskiy et al. (2020) — *YOLOv4* — ต้นกำเนิด mosaic augmentation ที่ใช้ในงานนี้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Lin et al. (2014) — *Microsoft COCO* — ที่มาของเกณฑ์ small/medium/large ที่ใช้วิเคราะห์ needle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Gerber et al. (2022) — *Video-based fully automatic assessment of open surgery suturing skills* — งานวิจัยที่ใกล้เคียงโจทย์ของเราที่สุดที่หาได้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1500" b="0">
              <a:solidFill>
                <a:srgbClr val="5C6B7A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เครื่องมือและซอฟต์แวร์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Ultralytics YOLO — docs.ultralytics.com · Roboflow — roboflow.com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1500" b="0">
              <a:solidFill>
                <a:srgbClr val="5C6B7A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ของโครงงานนี้เอง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ผลการทดลองทั้งหมด: </a:t>
            </a:r>
            <a:r>
              <a:rPr sz="14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01_frame-extractor-tool/results_*/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สคริปต์ที่เขียนเอง 3 ตัว: </a:t>
            </a:r>
            <a:r>
              <a:rPr sz="14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report_training_results.py</a:t>
            </a: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· </a:t>
            </a:r>
            <a:r>
              <a:rPr sz="14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analyze_box_sizes.py</a:t>
            </a: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· </a:t>
            </a:r>
            <a:r>
              <a:rPr sz="14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benchmark_inference.py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ทุกรายการตรวจ title/author/ปี/แหล่งจริงแล้ว (16 ส.ค. 2569) — ดู B16-B17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34440" y="2468880"/>
            <a:ext cx="96012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8 · Conclusion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ขอบคุณครับ/ค่ะ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ระบบตรวจจับอุปกรณ์การเย็บแผลด้วยปัญญาประดิษฐ์ · อภินันท์ อายุยงค์ · ตรีฤทัย แคยิหวา · ฟ้าใส ขวัญปาน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34440" y="2468880"/>
            <a:ext cx="96012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สไลด์สำรอง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Backup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เปิดเมื่อถูกถามเจาะลึก — ค้นหาได้ทันที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B1 · ไฮเปอร์พารามิเตอร์ครบทั้งสี่รอบ (เฉพาะค่าที่ต่างกัน)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44752"/>
          <a:ext cx="10911531" cy="26883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85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7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94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94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94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hyperparameter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noaug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aug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aug150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aug960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epochs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50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50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150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150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imgsz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640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640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640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960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close_mosaic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hsv_h / hsv_s / hsv_v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 / 0 / 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0.015 / 0.7 / 0.4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0.015 / 0.7 / 0.4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0.015 / 0.7 / 0.4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translate / scale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 / 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0.1 / 0.5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0.1 / 0.5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0.1 / 0.5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fliplr / mosaic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 / 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0.5 / 1.0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0.5 / 1.0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0.5 / 1.0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79392"/>
            <a:ext cx="1091153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noaug vs aug ต่างกันแค่ค่า augmentation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ทุกอย่างอื่นเหมือนกันทุกประการ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assets/results-comparison/val/hyperparameter_summary.md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B2 · ทำไม mAP50 เท่ากันแต่ยังเลือก 960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091153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mAP50 วัดที่ IoU 0.50 อย่างเดียว — "ถูกคร่าว ๆ" ก็ผ่าน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mAP50-95 วัดคุณภาพตำแหน่ง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0.4366 → 0.4532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needle recall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0.2435 → 0.3579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และรอบ 960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ใช้เวลาฝึกน้อยกว่า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(97.9 vs 162.6 นาที)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assets/results-comparison/val/benchmark_comparison.md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B3 · Stitch Scissors — 16 กรอบ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091153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16 / 10 / 3 กรอบ ใน train / val / test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คะแนนแกว่ง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0.4314–0.9859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ข้ามรอบการทดลอง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ในโมเดลที่ดีที่สุดได้ 0.8513 ซึ่งสูงกว่าค่าเฉลี่ย จึงดันเลขรวมขึ้น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ตัดออก = 0.6990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ที่ยังเก็บไว้เพราะเป็นอุปกรณ์ที่มีจริงในการฝึก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assets/results-960/val/aug960_per_class_metrics.md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B4 · ขนาดกรอบรายคลาสเต็มตาราง (ที่ imgsz 640)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44752"/>
          <a:ext cx="10911534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คลาส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ด้านสั้นมัธยฐาน (px)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% เล็กกว่าเกณฑ์ small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needle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12.4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80.9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wound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13.9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49.8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Tip_forcep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27.9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45.5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Tip_needle_holder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28.1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29.2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forcep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59.4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3.1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finger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69.0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4.0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Stitch Scissors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83.8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needle_holder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111.9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10.7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hand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128.7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12.6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assets/results-boxsize/box_size_by_class.md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B5 · ผลบนชุดทดสอบเต็ม (aug960)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091153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ทั้งโฟลเดอร์ผลการทดสอบของรอบ aug960 — กราฟและตารางครบทุกแบบเหมือนชุดตรวจสอบ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assets/results-960/test/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B6 · กราฟ loss สามตัวแยก (aug960)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10911535" cy="4617720"/>
          </a:xfrm>
          <a:prstGeom prst="rect">
            <a:avLst/>
          </a:prstGeom>
          <a:solidFill>
            <a:srgbClr val="F5F6FA"/>
          </a:solidFill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aug960_loss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369" y="1508760"/>
            <a:ext cx="6344957" cy="41970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1" y="5751576"/>
            <a:ext cx="107652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box / cls / dfl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assets/results-960/val/aug960_loss_breakdown.png · YOLO11 ไม่มี objectness 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B7 · Learning rate schedule (aug960)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4" name="Picture 3" descr="aug960_lr_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200" y="1444752"/>
            <a:ext cx="7131293" cy="45445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assets/results-960/val/aug960_lr_schedule.png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B8 · ตัวอย่างภาพที่แบบจำลองทำผิด (aug960)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4" name="Picture 3" descr="aug960_error_analysis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5999"/>
            <a:ext cx="10911535" cy="4382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assets/results-960/val/aug960_error_analysis_grid.png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B9 · เรื่อง imgsz ที่เคยสรุปผิด แล้วไปวัดจนพบว่าผิด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091153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เคยสรุปจากการ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อ่านโค้ด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ว่าเว็บแอปเสิร์ฟโมเดล 960 ที่ความละเอียด 640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วัดจริง 30 เฟรม: เรียก </a:t>
            </a:r>
            <a:r>
              <a:rPr sz="15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predict()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เฉย ๆ ได้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267 กรอบ needle 6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เท่ากับส่ง </a:t>
            </a:r>
            <a:r>
              <a:rPr sz="15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imgsz=960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ทุกกรอบ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5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imgsz=640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ได้ 255 กรอบ needle 5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แก้เอกสารย้อนหลังทุกที่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(commit </a:t>
            </a:r>
            <a:r>
              <a:rPr sz="15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f367aa1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B10 · ข้อบกพร่องป้ายกำกับแบบเต็ม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091153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8,047 กรอบผิด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จาก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623 ไฟล์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ใน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2,190 ไฟล์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ไฟล์ export มี bbox ปนกับ polygon — บรรทัด polygon ถูกอ่านเป็นพิกัดกรอบผิดตำแหน่ง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ตรวจพบก่อนฝึก → ไม่มีผลต่อผลการทดลองที่รายงาน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รูป ก2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B11 · สเปกเครื่องที่ใช้ฝึก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091153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RTX 3050 Laptop 4 GB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รอบ 960 =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97.9 นาที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· รอบ 640 =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162.6 นาที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5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workers=0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เพราะเคยติดขีดจำกัดหน่วยความจำเสมือน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(ภายหลังขยาย pagefile เป็น 16 GB แล้ว แต่ยังไม่เปลี่ยนค่าตั้งต้นเพราะยังไม่ได้พิสูจน์ว่ารอด 150 รอบ)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ไม่ใช้ Colab หรือ GPU เช่า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B12 · แผนภาพการติดตั้ง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4" name="Picture 3" descr="B2-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821" y="1444752"/>
            <a:ext cx="10014051" cy="4087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60527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ทั้งระบบอยู่บนเครื่องเดียว · ออกนอกเครื่องทางเดียวคือ Roboflow Cloud และมีปุ่มยืนยันก่อนทุกครั้ง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รูป ข2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B13 · ขนาดกรอบรายคลาสของชุด re-annotated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091153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needle: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2,050 กรอบ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· ด้านสั้นมัธยฐาน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12.3 px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81.5% ยังเล็กกว่าเกณฑ์ small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แทบไม่ต่างจากชุดเดิม (80.9%)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results_reannot_boxsize/box_size_by_class.md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B14 · อภิธานศัพท์ (ฉบับเต็มจากแผ่น 1-5)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44752"/>
          <a:ext cx="10911534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4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คำ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ความหมายแบบสั้นที่สุด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bounding box (กรอบ)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สี่เหลี่ยมที่ล้อมวัตถุหนึ่งชิ้น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class (คลาส)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ชนิดของวัตถุ เช่น needle, forcep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confidence (ค่าความเชื่อมั่น)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โมเดลมั่นใจแค่ไหนว่ากรอบนี้ถูก · เว็บแอปตั้งเกณฑ์ไว้ที่ 0.25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epoch (รอบ)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การให้โมเดลดูข้อมูลฝึกครบทุกภาพหนึ่งรอบ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imgsz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ความละเอียดภาพที่ใช้ตอนฝึก/ทำนาย (640 หรือ 960 พิกเซล)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augmentation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การดัดแปลงภาพฝึกเพื่อเพิ่มความหลากหลาย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train / val / test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ชุดฝึก / ชุดปรับ / ชุดทดสอบที่โมเดลไม่เคยเห็น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IoU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สัดส่วนพื้นที่ซ้อนทับระหว่างกรอบทำนายกับกรอบจริง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mAP50 / mAP50-95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ค่าเฉลี่ยความแม่นที่ IoU 0.50 / เฉลี่ย IoU 0.50-0.95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B15 · ผลรายคลาสของ baseline9-reannot (50 รอบ คัดกรอง)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44752"/>
          <a:ext cx="10911534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061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9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คลาส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mAP50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Stitch Scissors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0.9027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Tip_forcep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0.8171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needle_holder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0.8164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Tip_needle_holder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0.8039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finger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0.7885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forcep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0.7356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wound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0.6365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hand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0.6065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needle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0.3448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431536"/>
            <a:ext cx="1091153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ตัวเลขรอบคัดกรอง 50 รอบ —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ไม่ใช่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ตัวเลข 150 รอบสุดท้ายที่รายงานในแผ่น 5-6 (0.3893)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results_reannot_screening/baseline9-reannot_per_class_metrics.md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B16 · References — พื้นฐาน object detection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091153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1. Redmon, Divvala, Girshick &amp; Farhadi (2016) *You Only Look Once: Unified, Real-Time Object Detection*, CVPR (arXiv:1506.02640)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2. Redmon &amp; Farhadi (2018) *YOLOv3: An Incremental Improvement* (arXiv:1804.02767)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3. Bochkovskiy, Wang &amp; Liao (2020) *YOLOv4: Optimal Speed and Accuracy of Object Detection* — ต้นกำเนิด mosaic augmentation ที่ใช้ในงานนี้ (arXiv:2004.10934)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4. Wang, Bochkovskiy &amp; Liao (2023) *YOLOv7: Trainable Bag-of-Freebies*, CVPR (arXiv:2207.02696)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5. Ren, He, Girshick &amp; Sun (2015) *Faster R-CNN* (arXiv:1506.01497)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6. Girshick (2015) *Fast R-CNN*, ICCV (arXiv:1504.08083)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7. Lin, Dollár, Girshick, He, Hariharan &amp; Belongie (2017) *Feature Pyramid Networks for Object Detection*, CVPR (arXiv:1612.03144) — ที่มาของแนวคิด P3/P4/P5 หลายความละเอียด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8. Huang, Rathod, Sun et al. (2017) *Speed/accuracy trade-offs for modern convolutional object detectors*, CVPR (arXiv:1611.10012)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ทุกรายการตรวจ title/ปี/แหล่งจริงแล้ว 16 ส.ค. 2569 — ต่อหน้า 2/2 ที่ B17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B17 · References — ข้อมูล/โดเมนใกล้เคียง/เครื่องมือ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091153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9. Lin, Maire, Belongie et al. (2014) *Microsoft COCO: Common Objects in Context*, ECCV (arXiv:1405.0312) — ที่มาของเกณฑ์ small/medium/large ที่ใช้วิเคราะห์ needle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10. Everingham, Van Gool, Williams, Winn &amp; Zisserman (2010) *The PASCAL Visual Object Classes (VOC) Challenge*, IJCV — รูปแบบ export ที่เว็บแอปรองรับ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11. Shorten &amp; Khoshgoftaar (2019) *A Survey on Image Data Augmentation for Deep Learning*, Journal of Big Data 6(60)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12. Gerber, Chen, Sharon, Wren &amp; Dutson (2022) *Video-based fully automatic assessment of open surgery suturing skills*, Int. J. CARS (arXiv:2110.13972) — </a:t>
            </a:r>
            <a:r>
              <a:rPr sz="1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งานวิจัยที่ใกล้เคียงโจทย์ของเราที่สุด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13. *Surgical Tools Detection and Localization using YOLO Models for Minimization of Retained Surgical Items*, IEEE (2025)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14. Bradski (2000) *The OpenCV Library*, Dr. Dobb's Journal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15. Ultralytics (2023-2025) *YOLO11 Documentation* — docs.ultralytics.com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16. Roboflow, Inc. (2025) — roboflow.com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17. Ramírez (2018-ปัจจุบัน) *FastAPI Framework* — fastapi.tiangolo.com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18. Tesseract OCR Engine — github.com/tesseract-ocr/tesseract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19. COCO Detection Evaluation Metrics — cocodataset.org/#detection-eval — นิยาม mAP50/mAP50-95 ที่ใช้ตลอดส่วนที่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ทุกรายการตรวจ title/ปี/แหล่งจริงแล้ว 16 ส.ค.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102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ระบบตรวจจับอุปกรณ์การเย็บแผล">
      <a:dk1>
        <a:srgbClr val="1A1A2E"/>
      </a:dk1>
      <a:lt1>
        <a:srgbClr val="FFFFFF"/>
      </a:lt1>
      <a:dk2>
        <a:srgbClr val="16213E"/>
      </a:dk2>
      <a:lt2>
        <a:srgbClr val="F5F6FA"/>
      </a:lt2>
      <a:accent1>
        <a:srgbClr val="E94560"/>
      </a:accent1>
      <a:accent2>
        <a:srgbClr val="0F3460"/>
      </a:accent2>
      <a:accent3>
        <a:srgbClr val="2F9E78"/>
      </a:accent3>
      <a:accent4>
        <a:srgbClr val="C97A00"/>
      </a:accent4>
      <a:accent5>
        <a:srgbClr val="5C6B7A"/>
      </a:accent5>
      <a:accent6>
        <a:srgbClr val="16213E"/>
      </a:accent6>
      <a:hlink>
        <a:srgbClr val="0F3460"/>
      </a:hlink>
      <a:folHlink>
        <a:srgbClr val="5C6B7A"/>
      </a:folHlink>
    </a:clrScheme>
    <a:fontScheme name="Leelawadee UI">
      <a:majorFont>
        <a:latin typeface="Leelawadee UI"/>
        <a:ea typeface="Leelawadee UI"/>
        <a:cs typeface="Leelawadee UI"/>
      </a:majorFont>
      <a:minorFont>
        <a:latin typeface="Leelawadee UI"/>
        <a:ea typeface="Leelawadee UI"/>
        <a:cs typeface="Leelawadee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19925</Words>
  <Application>Microsoft Office PowerPoint</Application>
  <PresentationFormat>แบบจอกว้าง</PresentationFormat>
  <Paragraphs>1508</Paragraphs>
  <Slides>102</Slides>
  <Notes>73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102</vt:i4>
      </vt:variant>
    </vt:vector>
  </HeadingPairs>
  <TitlesOfParts>
    <vt:vector size="107" baseType="lpstr">
      <vt:lpstr>Aptos</vt:lpstr>
      <vt:lpstr>Arial</vt:lpstr>
      <vt:lpstr>Consolas</vt:lpstr>
      <vt:lpstr>Leelawadee UI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Apinan Aryuyong</cp:lastModifiedBy>
  <cp:revision>1</cp:revision>
  <dcterms:created xsi:type="dcterms:W3CDTF">2013-01-27T09:14:16Z</dcterms:created>
  <dcterms:modified xsi:type="dcterms:W3CDTF">2026-08-17T01:06:45Z</dcterms:modified>
  <cp:category/>
</cp:coreProperties>
</file>